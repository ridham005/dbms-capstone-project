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7ba3cfb-4301-f86e-9792-39f69e15a4ed}">
          <p14:sldIdLst>
            <p14:sldId id="256"/>
            <p14:sldId id="257"/>
            <p14:sldId id="258"/>
            <p14:sldId id="259"/>
          </p14:sldIdLst>
        </p14:section>
        <p14:section name="Design" id="{c8868eba-8649-8476-a574-bc29ff4cfe8f}">
          <p14:sldIdLst>
            <p14:sldId id="260"/>
            <p14:sldId id="261"/>
            <p14:sldId id="262"/>
          </p14:sldIdLst>
        </p14:section>
        <p14:section name="Implementation" id="{8f1fe45a-22e0-c842-890e-de0d30bf3555}">
          <p14:sldIdLst>
            <p14:sldId id="263"/>
            <p14:sldId id="264"/>
            <p14:sldId id="265"/>
            <p14:sldId id="266"/>
            <p14:sldId id="267"/>
            <p14:sldId id="268"/>
          </p14:sldIdLst>
        </p14:section>
        <p14:section name="Conclusion" id="{93408571-1a47-1ead-b549-ab712c7baf80}">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111"/>
                </a:solidFill>
                <a:latin typeface="+mn-lt"/>
              </a:defRPr>
            </a:pPr>
            <a:r>
              <a:rPr sz="1400" b="0" i="0" u="none" strike="noStrike">
                <a:solidFill>
                  <a:srgbClr val="111111"/>
                </a:solidFill>
                <a:latin typeface="+mn-lt"/>
              </a:rPr>
              <a:t>Alerts raised by each rule (68 total)</a:t>
            </a:r>
          </a:p>
        </c:rich>
      </c:tx>
      <c:layout/>
      <c:overlay val="0"/>
    </c:title>
    <c:autoTitleDeleted val="0"/>
    <c:plotArea>
      <c:layout/>
      <c:barChart>
        <c:barDir val="bar"/>
        <c:grouping val="clustered"/>
        <c:varyColors val="0"/>
        <c:ser>
          <c:idx val="0"/>
          <c:order val="0"/>
          <c:tx>
            <c:strRef>
              <c:f>Sheet1!$B$1</c:f>
              <c:strCache>
                <c:ptCount val="1"/>
                <c:pt idx="0">
                  <c:v>Alerts</c:v>
                </c:pt>
              </c:strCache>
            </c:strRef>
          </c:tx>
          <c:spPr>
            <a:solidFill>
              <a:srgbClr val="2B2B2B"/>
            </a:solidFill>
            <a:effectLst/>
          </c:spPr>
          <c:invertIfNegative val="0"/>
          <c:dLbls>
            <c:numFmt formatCode="#,##0" sourceLinked="0"/>
            <c:txPr>
              <a:bodyPr/>
              <a:lstStyle/>
              <a:p>
                <a:pPr>
                  <a:defRPr b="0" i="0" strike="noStrike" sz="1200" u="none">
                    <a:solidFill>
                      <a:srgbClr val="111111"/>
                    </a:solidFill>
                    <a:latin typeface="+mn-lt"/>
                  </a:defRPr>
                </a:pPr>
              </a:p>
            </c:txPr>
            <c:showLegendKey val="0"/>
            <c:showVal val="1"/>
            <c:showCatName val="0"/>
            <c:showSerName val="0"/>
            <c:showPercent val="0"/>
            <c:showBubbleSize val="0"/>
            <c:showLeaderLines val="0"/>
          </c:dLbls>
          <c:cat>
            <c:multiLvlStrRef>
              <c:f>Sheet1!$A$2:$A$6</c:f>
              <c:multiLvlStrCache>
                <c:ptCount val="5"/>
                <c:lvl>
                  <c:pt idx="0">
                    <c:v>Velocity</c:v>
                  </c:pt>
                  <c:pt idx="1">
                    <c:v>Night high value</c:v>
                  </c:pt>
                  <c:pt idx="2">
                    <c:v>High value, new payee</c:v>
                  </c:pt>
                  <c:pt idx="3">
                    <c:v>New device</c:v>
                  </c:pt>
                  <c:pt idx="4">
                    <c:v>High-risk merchant</c:v>
                  </c:pt>
                </c:lvl>
              </c:multiLvlStrCache>
            </c:multiLvlStrRef>
          </c:cat>
          <c:val>
            <c:numRef>
              <c:f>Sheet1!$B$2:$B$6</c:f>
              <c:numCache>
                <c:formatCode>General</c:formatCode>
                <c:ptCount val="5"/>
                <c:pt idx="0">
                  <c:v>20</c:v>
                </c:pt>
                <c:pt idx="1">
                  <c:v>18</c:v>
                </c:pt>
                <c:pt idx="2">
                  <c:v>15</c:v>
                </c:pt>
                <c:pt idx="3">
                  <c:v>9</c:v>
                </c:pt>
                <c:pt idx="4">
                  <c:v>6</c:v>
                </c:pt>
              </c:numCache>
            </c:numRef>
          </c:val>
        </c:ser>
        <c:dLbls>
          <c:numFmt formatCode="#,##0" sourceLinked="0"/>
          <c:txPr>
            <a:bodyPr/>
            <a:lstStyle/>
            <a:p>
              <a:pPr>
                <a:defRPr b="0" i="0" strike="noStrike" sz="1200" u="none">
                  <a:solidFill>
                    <a:srgbClr val="11111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3333"/>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5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E5E5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a relational database for UPI payments with a rule-based fraud-monitoring layer, implemented in MySQL with a Tkinter front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UPI is a good DBMS case study: high volume, money must be consistent (ACID), and fraud has to be caught at write time - which maps directly onto transactions, constraints and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map one-to-one to guideline points 2-5. The four user groups become the four security levels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core runs in MySQL, which keeps the project within the syllabus. The front end is the optional bonus.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notation: rectangles are entities, diamonds relationships, ellipses attributes, underlined attributes are keys. Point out the specialization circles marked d, the double box for DISPUTE and the double lines for total participation. Full-size image: docs/erd.png.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 generated from information_schema, so it matches the database exactly. Full data dictionary: docs/data_dictionary.md.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sample rows, the FD list and each decomposition step are in docs/normalization.md. Viva point: txn_type is a stored derived value kept consistent by a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query file runs end to end; statements marked EXPECTED ERROR fail on purpose to prove a constraint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live with queries/concurrency/session_A.sql and session_B.sql in two Workbench tabs. Locking in a fixed order prevents deadlocks between opposite transfers.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trg_txn_bi enforces the Rs. 1,00,000 daily limit and derives P2P/P2M; trg_txn_ai evaluates the five active rules after each successful payment. Rules live in a table, so thresholds can change without changing code. A sixth rule is stored but inactive.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denial live: log in as support_riya and try SELECT * FROM upi_txn - access is denied, but v_support_customer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views in total. The two materialized views are mv_daily_merchant_volume and mv_city_fraud_stats, refreshed by sp_refresh_all_mv.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order: pay a merchant, then pay Rs. 60,000 to a new payee and switch to the Fraud tab to show the critical alert. Finish with the SQL console running a join from the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scripts rebuild the database from scratch in a few seconds with one command (rebuild.bat or sql/00_rebuild.sql).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questions. Common viva topics: why triggers instead of CHECK, how the materialized view is emulated, why the schedule without locks is not serializable.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429000"/>
            <a:ext cx="10698480" cy="1463040"/>
          </a:xfrm>
          <a:prstGeom prst="rect">
            <a:avLst/>
          </a:prstGeom>
          <a:noFill/>
          <a:ln/>
        </p:spPr>
        <p:txBody>
          <a:bodyPr wrap="square" rtlCol="0"/>
          <a:lstStyle>
            <a:lvl1pPr algn="l" indent="0" marL="0">
              <a:buNone/>
              <a:defRPr lang="en-US" sz="2000" dirty="0">
                <a:solidFill>
                  <a:schemeClr val="accent4"/>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2"/>
                </a:solidFill>
              </a:rPr>
              <a:t>UPIShield  |  DBMS Project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rPr>
              <a:t>UPIShield</a:t>
            </a:r>
            <a:endParaRPr lang="en-US" sz="5400" dirty="0"/>
          </a:p>
        </p:txBody>
      </p:sp>
      <p:sp>
        <p:nvSpPr>
          <p:cNvPr id="3" name="Text 0"/>
          <p:cNvSpPr/>
          <p:nvPr>
            <p:ph idx="101" type="body" hasCustomPrompt="1"/>
          </p:nvPr>
        </p:nvSpPr>
        <p:spPr>
          <a:xfrm>
            <a:off x="731520" y="3429000"/>
            <a:ext cx="10698480" cy="1463040"/>
          </a:xfrm>
          <a:prstGeom prst="rect">
            <a:avLst/>
          </a:prstGeom>
          <a:noFill/>
          <a:ln/>
        </p:spPr>
        <p:txBody>
          <a:bodyPr wrap="square" lIns="0" tIns="0" rIns="0" bIns="0" rtlCol="0" anchor="t"/>
          <a:lstStyle/>
          <a:p>
            <a:pPr algn="l" indent="0" marL="0">
              <a:buNone/>
            </a:pPr>
            <a:r>
              <a:rPr lang="en-US" sz="2000" dirty="0">
                <a:solidFill>
                  <a:schemeClr val="accent4"/>
                </a:solidFill>
              </a:rPr>
              <a:t>A Database System for UPI Payments and Fraud Monitoring</a:t>
            </a:r>
            <a:endParaRPr lang="en-US" sz="2000" dirty="0"/>
          </a:p>
        </p:txBody>
      </p:sp>
      <p:sp>
        <p:nvSpPr>
          <p:cNvPr id="4" name="Text 2"/>
          <p:cNvSpPr txBox="1"/>
          <p:nvPr/>
        </p:nvSpPr>
        <p:spPr>
          <a:xfrm>
            <a:off x="731520" y="4846320"/>
            <a:ext cx="10698480" cy="365760"/>
          </a:xfrm>
          <a:prstGeom prst="rect">
            <a:avLst/>
          </a:prstGeom>
          <a:noFill/>
          <a:ln/>
        </p:spPr>
        <p:txBody>
          <a:bodyPr wrap="square" lIns="0" tIns="0" rIns="0" bIns="0" rtlCol="0" anchor="t"/>
          <a:lstStyle/>
          <a:p>
            <a:pPr indent="0" marL="0">
              <a:buNone/>
            </a:pPr>
            <a:r>
              <a:rPr lang="en-US" sz="1600" dirty="0">
                <a:solidFill>
                  <a:schemeClr val="accent3"/>
                </a:solidFill>
                <a:latin typeface="Calibri" pitchFamily="34" charset="0"/>
                <a:ea typeface="Calibri" pitchFamily="34" charset="-122"/>
                <a:cs typeface="Calibri" pitchFamily="34" charset="-120"/>
              </a:rPr>
              <a:t>24CS202T Database Management Systems  |  MySQL 8.0  |  Python front end</a:t>
            </a:r>
            <a:endParaRPr lang="en-US" sz="1600" dirty="0"/>
          </a:p>
        </p:txBody>
      </p:sp>
      <p:sp>
        <p:nvSpPr>
          <p:cNvPr id="5" name="Text 3"/>
          <p:cNvSpPr txBox="1"/>
          <p:nvPr/>
        </p:nvSpPr>
        <p:spPr>
          <a:xfrm>
            <a:off x="731520" y="5303520"/>
            <a:ext cx="10698480" cy="365760"/>
          </a:xfrm>
          <a:prstGeom prst="rect">
            <a:avLst/>
          </a:prstGeom>
          <a:noFill/>
          <a:ln/>
        </p:spPr>
        <p:txBody>
          <a:bodyPr wrap="square" lIns="0" tIns="0" rIns="0" bIns="0" rtlCol="0" anchor="t"/>
          <a:lstStyle/>
          <a:p>
            <a:pPr indent="0" marL="0">
              <a:buNone/>
            </a:pPr>
            <a:r>
              <a:rPr lang="en-US" sz="1600" dirty="0">
                <a:solidFill>
                  <a:schemeClr val="accent3"/>
                </a:solidFill>
                <a:latin typeface="Calibri" pitchFamily="34" charset="0"/>
                <a:ea typeface="Calibri" pitchFamily="34" charset="-122"/>
                <a:cs typeface="Calibri" pitchFamily="34" charset="-120"/>
              </a:rPr>
              <a:t>Team: Member 1  |  Member 2  |  Member 3</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problem: payments are instant, so fraud is too</a:t>
            </a:r>
            <a:endParaRPr lang="en-US" sz="3400" dirty="0"/>
          </a:p>
        </p:txBody>
      </p:sp>
      <p:sp>
        <p:nvSpPr>
          <p:cNvPr id="3" name="Text 1"/>
          <p:cNvSpPr txBox="1"/>
          <p:nvPr/>
        </p:nvSpPr>
        <p:spPr>
          <a:xfrm>
            <a:off x="548640" y="1371600"/>
            <a:ext cx="5120640" cy="164592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UPI moves money between bank accounts in seconds, 24x7. Once a fraudulent payment succeeds, the money is usually gone. Banks therefore need a database that records every payment reliably and checks it against fraud rules the moment it is written.</a:t>
            </a:r>
            <a:endParaRPr lang="en-US" sz="1700" dirty="0"/>
          </a:p>
        </p:txBody>
      </p:sp>
      <p:sp>
        <p:nvSpPr>
          <p:cNvPr id="4" name="card"/>
          <p:cNvSpPr/>
          <p:nvPr/>
        </p:nvSpPr>
        <p:spPr>
          <a:xfrm>
            <a:off x="6217920" y="1371600"/>
            <a:ext cx="5394960" cy="1371600"/>
          </a:xfrm>
          <a:prstGeom prst="rect">
            <a:avLst/>
          </a:prstGeom>
          <a:solidFill>
            <a:schemeClr val="bg2"/>
          </a:solidFill>
          <a:ln w="9525">
            <a:solidFill>
              <a:schemeClr val="bg2"/>
            </a:solidFill>
            <a:prstDash val="solid"/>
          </a:ln>
        </p:spPr>
      </p:sp>
      <p:sp>
        <p:nvSpPr>
          <p:cNvPr id="5" name="Shape 3"/>
          <p:cNvSpPr/>
          <p:nvPr/>
        </p:nvSpPr>
        <p:spPr>
          <a:xfrm>
            <a:off x="6446520" y="1600200"/>
            <a:ext cx="457200" cy="457200"/>
          </a:xfrm>
          <a:prstGeom prst="ellipse">
            <a:avLst/>
          </a:prstGeom>
          <a:solidFill>
            <a:schemeClr val="tx1"/>
          </a:solidFill>
          <a:ln w="12700">
            <a:solidFill>
              <a:schemeClr val="tx1"/>
            </a:solidFill>
            <a:prstDash val="solid"/>
          </a:ln>
        </p:spPr>
      </p:sp>
      <p:sp>
        <p:nvSpPr>
          <p:cNvPr id="6" name="Text 4"/>
          <p:cNvSpPr txBox="1"/>
          <p:nvPr/>
        </p:nvSpPr>
        <p:spPr>
          <a:xfrm>
            <a:off x="644652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7132320" y="1572768"/>
            <a:ext cx="429768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Consistency</a:t>
            </a:r>
            <a:endParaRPr lang="en-US" sz="1800" dirty="0"/>
          </a:p>
        </p:txBody>
      </p:sp>
      <p:sp>
        <p:nvSpPr>
          <p:cNvPr id="8" name="Text 6"/>
          <p:cNvSpPr txBox="1"/>
          <p:nvPr/>
        </p:nvSpPr>
        <p:spPr>
          <a:xfrm>
            <a:off x="7132320" y="1965960"/>
            <a:ext cx="429768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 debit without its matching credit must never be stored, even under heavy concurrency.</a:t>
            </a:r>
            <a:endParaRPr lang="en-US" sz="1400" dirty="0"/>
          </a:p>
        </p:txBody>
      </p:sp>
      <p:sp>
        <p:nvSpPr>
          <p:cNvPr id="9" name="card"/>
          <p:cNvSpPr/>
          <p:nvPr/>
        </p:nvSpPr>
        <p:spPr>
          <a:xfrm>
            <a:off x="6217920" y="2971800"/>
            <a:ext cx="5394960" cy="1371600"/>
          </a:xfrm>
          <a:prstGeom prst="rect">
            <a:avLst/>
          </a:prstGeom>
          <a:solidFill>
            <a:schemeClr val="bg2"/>
          </a:solidFill>
          <a:ln w="9525">
            <a:solidFill>
              <a:schemeClr val="bg2"/>
            </a:solidFill>
            <a:prstDash val="solid"/>
          </a:ln>
        </p:spPr>
      </p:sp>
      <p:sp>
        <p:nvSpPr>
          <p:cNvPr id="10" name="Shape 8"/>
          <p:cNvSpPr/>
          <p:nvPr/>
        </p:nvSpPr>
        <p:spPr>
          <a:xfrm>
            <a:off x="6446520" y="3200400"/>
            <a:ext cx="457200" cy="457200"/>
          </a:xfrm>
          <a:prstGeom prst="ellipse">
            <a:avLst/>
          </a:prstGeom>
          <a:solidFill>
            <a:schemeClr val="tx1"/>
          </a:solidFill>
          <a:ln w="12700">
            <a:solidFill>
              <a:schemeClr val="tx1"/>
            </a:solidFill>
            <a:prstDash val="solid"/>
          </a:ln>
        </p:spPr>
      </p:sp>
      <p:sp>
        <p:nvSpPr>
          <p:cNvPr id="11" name="Text 9"/>
          <p:cNvSpPr txBox="1"/>
          <p:nvPr/>
        </p:nvSpPr>
        <p:spPr>
          <a:xfrm>
            <a:off x="6446520" y="3200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7132320" y="3172968"/>
            <a:ext cx="429768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Detection</a:t>
            </a:r>
            <a:endParaRPr lang="en-US" sz="1800" dirty="0"/>
          </a:p>
        </p:txBody>
      </p:sp>
      <p:sp>
        <p:nvSpPr>
          <p:cNvPr id="13" name="Text 11"/>
          <p:cNvSpPr txBox="1"/>
          <p:nvPr/>
        </p:nvSpPr>
        <p:spPr>
          <a:xfrm>
            <a:off x="7132320" y="3566160"/>
            <a:ext cx="429768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Suspicious patterns (bursts, night-time transfers, new devices) must be flagged automatically.</a:t>
            </a:r>
            <a:endParaRPr lang="en-US" sz="1400" dirty="0"/>
          </a:p>
        </p:txBody>
      </p:sp>
      <p:sp>
        <p:nvSpPr>
          <p:cNvPr id="14" name="card"/>
          <p:cNvSpPr/>
          <p:nvPr/>
        </p:nvSpPr>
        <p:spPr>
          <a:xfrm>
            <a:off x="6217920" y="4572000"/>
            <a:ext cx="5394960" cy="1371600"/>
          </a:xfrm>
          <a:prstGeom prst="rect">
            <a:avLst/>
          </a:prstGeom>
          <a:solidFill>
            <a:schemeClr val="bg2"/>
          </a:solidFill>
          <a:ln w="9525">
            <a:solidFill>
              <a:schemeClr val="bg2"/>
            </a:solidFill>
            <a:prstDash val="solid"/>
          </a:ln>
        </p:spPr>
      </p:sp>
      <p:sp>
        <p:nvSpPr>
          <p:cNvPr id="15" name="Shape 13"/>
          <p:cNvSpPr/>
          <p:nvPr/>
        </p:nvSpPr>
        <p:spPr>
          <a:xfrm>
            <a:off x="6446520" y="4800600"/>
            <a:ext cx="457200" cy="457200"/>
          </a:xfrm>
          <a:prstGeom prst="ellipse">
            <a:avLst/>
          </a:prstGeom>
          <a:solidFill>
            <a:schemeClr val="tx1"/>
          </a:solidFill>
          <a:ln w="12700">
            <a:solidFill>
              <a:schemeClr val="tx1"/>
            </a:solidFill>
            <a:prstDash val="solid"/>
          </a:ln>
        </p:spPr>
      </p:sp>
      <p:sp>
        <p:nvSpPr>
          <p:cNvPr id="16" name="Text 14"/>
          <p:cNvSpPr txBox="1"/>
          <p:nvPr/>
        </p:nvSpPr>
        <p:spPr>
          <a:xfrm>
            <a:off x="6446520" y="4800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7132320" y="4773168"/>
            <a:ext cx="429768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Access</a:t>
            </a:r>
            <a:endParaRPr lang="en-US" sz="1800" dirty="0"/>
          </a:p>
        </p:txBody>
      </p:sp>
      <p:sp>
        <p:nvSpPr>
          <p:cNvPr id="18" name="Text 16"/>
          <p:cNvSpPr txBox="1"/>
          <p:nvPr/>
        </p:nvSpPr>
        <p:spPr>
          <a:xfrm>
            <a:off x="7132320" y="5166360"/>
            <a:ext cx="4297680"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Support staff, analysts and auditors each need different, limited views of sensitive data.</a:t>
            </a:r>
            <a:endParaRPr lang="en-US" sz="1400" dirty="0"/>
          </a:p>
        </p:txBody>
      </p:sp>
      <p:sp>
        <p:nvSpPr>
          <p:cNvPr id="19" name="card"/>
          <p:cNvSpPr/>
          <p:nvPr/>
        </p:nvSpPr>
        <p:spPr>
          <a:xfrm>
            <a:off x="548640" y="3429000"/>
            <a:ext cx="5120640" cy="2331720"/>
          </a:xfrm>
          <a:prstGeom prst="rect">
            <a:avLst/>
          </a:prstGeom>
          <a:solidFill>
            <a:schemeClr val="tx1"/>
          </a:solidFill>
          <a:ln w="9525">
            <a:solidFill>
              <a:schemeClr val="tx1"/>
            </a:solidFill>
            <a:prstDash val="solid"/>
          </a:ln>
        </p:spPr>
      </p:sp>
      <p:sp>
        <p:nvSpPr>
          <p:cNvPr id="20" name="Text 18"/>
          <p:cNvSpPr txBox="1"/>
          <p:nvPr/>
        </p:nvSpPr>
        <p:spPr>
          <a:xfrm>
            <a:off x="822960" y="3657600"/>
            <a:ext cx="4572000" cy="365760"/>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Project goal</a:t>
            </a:r>
            <a:endParaRPr lang="en-US" sz="1400" dirty="0"/>
          </a:p>
        </p:txBody>
      </p:sp>
      <p:sp>
        <p:nvSpPr>
          <p:cNvPr id="21" name="Text 19"/>
          <p:cNvSpPr txBox="1"/>
          <p:nvPr/>
        </p:nvSpPr>
        <p:spPr>
          <a:xfrm>
            <a:off x="822960" y="4069080"/>
            <a:ext cx="4572000" cy="1554480"/>
          </a:xfrm>
          <a:prstGeom prst="rect">
            <a:avLst/>
          </a:prstGeom>
          <a:noFill/>
          <a:ln/>
        </p:spPr>
        <p:txBody>
          <a:bodyPr wrap="square" lIns="0" tIns="0" rIns="0" bIns="0" rtlCol="0" anchor="t"/>
          <a:lstStyle/>
          <a:p>
            <a:pPr indent="0" marL="0">
              <a:buNone/>
            </a:pPr>
            <a:r>
              <a:rPr lang="en-US" sz="1700" dirty="0">
                <a:solidFill>
                  <a:schemeClr val="bg1"/>
                </a:solidFill>
                <a:latin typeface="Cambria" pitchFamily="34" charset="0"/>
                <a:ea typeface="Cambria" pitchFamily="34" charset="-122"/>
                <a:cs typeface="Cambria" pitchFamily="34" charset="-120"/>
              </a:rPr>
              <a:t>Model the UPI ecosystem in a fully normalized MySQL database and enforce payment rules, fraud checks, auditing and access control inside the database itself.</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Objectives and use cases</a:t>
            </a:r>
            <a:endParaRPr lang="en-US" sz="3400" dirty="0"/>
          </a:p>
        </p:txBody>
      </p:sp>
      <p:sp>
        <p:nvSpPr>
          <p:cNvPr id="3" name="Text 1"/>
          <p:cNvSpPr txBox="1"/>
          <p:nvPr/>
        </p:nvSpPr>
        <p:spPr>
          <a:xfrm>
            <a:off x="548640" y="1325880"/>
            <a:ext cx="512064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Objectives</a:t>
            </a:r>
            <a:endParaRPr lang="en-US" sz="2000" dirty="0"/>
          </a:p>
        </p:txBody>
      </p:sp>
      <p:sp>
        <p:nvSpPr>
          <p:cNvPr id="4" name="Text 2"/>
          <p:cNvSpPr txBox="1"/>
          <p:nvPr/>
        </p:nvSpPr>
        <p:spPr>
          <a:xfrm>
            <a:off x="548640" y="1828800"/>
            <a:ext cx="5120640" cy="411480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Design an ER model with specialization, a weak entity and a recursive relationship</a:t>
            </a:r>
            <a:endParaRPr lang="en-US" sz="1500" dirty="0"/>
          </a:p>
          <a:p>
            <a:pPr marL="228600" indent="-2286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Map it to a relational schema normalized up to 3NF (checked for BCNF)</a:t>
            </a:r>
            <a:endParaRPr lang="en-US" sz="1500" dirty="0"/>
          </a:p>
          <a:p>
            <a:pPr marL="228600" indent="-2286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Process payments as ACID transactions with row-level locking</a:t>
            </a:r>
            <a:endParaRPr lang="en-US" sz="1500" dirty="0"/>
          </a:p>
          <a:p>
            <a:pPr marL="228600" indent="-2286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Detect fraud with triggers and keep a complete audit trail</a:t>
            </a:r>
            <a:endParaRPr lang="en-US" sz="1500" dirty="0"/>
          </a:p>
          <a:p>
            <a:pPr marL="228600" indent="-2286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Protect data with roles, security levels, views and encryption</a:t>
            </a:r>
            <a:endParaRPr lang="en-US" sz="1500" dirty="0"/>
          </a:p>
        </p:txBody>
      </p:sp>
      <p:sp>
        <p:nvSpPr>
          <p:cNvPr id="5" name="card"/>
          <p:cNvSpPr/>
          <p:nvPr/>
        </p:nvSpPr>
        <p:spPr>
          <a:xfrm>
            <a:off x="6217920" y="1371600"/>
            <a:ext cx="2560320" cy="2103120"/>
          </a:xfrm>
          <a:prstGeom prst="rect">
            <a:avLst/>
          </a:prstGeom>
          <a:solidFill>
            <a:schemeClr val="bg2"/>
          </a:solidFill>
          <a:ln w="9525">
            <a:solidFill>
              <a:schemeClr val="bg2"/>
            </a:solidFill>
            <a:prstDash val="solid"/>
          </a:ln>
        </p:spPr>
      </p:sp>
      <p:sp>
        <p:nvSpPr>
          <p:cNvPr id="6" name="Text 4"/>
          <p:cNvSpPr txBox="1"/>
          <p:nvPr/>
        </p:nvSpPr>
        <p:spPr>
          <a:xfrm>
            <a:off x="6446520" y="1600200"/>
            <a:ext cx="2103120" cy="45720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Customers</a:t>
            </a:r>
            <a:endParaRPr lang="en-US" sz="1700" dirty="0"/>
          </a:p>
        </p:txBody>
      </p:sp>
      <p:sp>
        <p:nvSpPr>
          <p:cNvPr id="7" name="Text 5"/>
          <p:cNvSpPr txBox="1"/>
          <p:nvPr/>
        </p:nvSpPr>
        <p:spPr>
          <a:xfrm>
            <a:off x="6446520" y="2148840"/>
            <a:ext cx="2103120" cy="11887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Register, open accounts, link UPI IDs, pay and raise disputes</a:t>
            </a:r>
            <a:endParaRPr lang="en-US" sz="1400" dirty="0"/>
          </a:p>
        </p:txBody>
      </p:sp>
      <p:sp>
        <p:nvSpPr>
          <p:cNvPr id="8" name="card"/>
          <p:cNvSpPr/>
          <p:nvPr/>
        </p:nvSpPr>
        <p:spPr>
          <a:xfrm>
            <a:off x="8961120" y="1371600"/>
            <a:ext cx="2560320" cy="2103120"/>
          </a:xfrm>
          <a:prstGeom prst="rect">
            <a:avLst/>
          </a:prstGeom>
          <a:solidFill>
            <a:schemeClr val="bg2"/>
          </a:solidFill>
          <a:ln w="9525">
            <a:solidFill>
              <a:schemeClr val="bg2"/>
            </a:solidFill>
            <a:prstDash val="solid"/>
          </a:ln>
        </p:spPr>
      </p:sp>
      <p:sp>
        <p:nvSpPr>
          <p:cNvPr id="9" name="Text 7"/>
          <p:cNvSpPr txBox="1"/>
          <p:nvPr/>
        </p:nvSpPr>
        <p:spPr>
          <a:xfrm>
            <a:off x="9189720" y="1600200"/>
            <a:ext cx="2103120" cy="45720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Merchants</a:t>
            </a:r>
            <a:endParaRPr lang="en-US" sz="1700" dirty="0"/>
          </a:p>
        </p:txBody>
      </p:sp>
      <p:sp>
        <p:nvSpPr>
          <p:cNvPr id="10" name="Text 8"/>
          <p:cNvSpPr txBox="1"/>
          <p:nvPr/>
        </p:nvSpPr>
        <p:spPr>
          <a:xfrm>
            <a:off x="9189720" y="2148840"/>
            <a:ext cx="2103120" cy="11887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Collect P2M payments and receive daily settlements</a:t>
            </a:r>
            <a:endParaRPr lang="en-US" sz="1400" dirty="0"/>
          </a:p>
        </p:txBody>
      </p:sp>
      <p:sp>
        <p:nvSpPr>
          <p:cNvPr id="11" name="card"/>
          <p:cNvSpPr/>
          <p:nvPr/>
        </p:nvSpPr>
        <p:spPr>
          <a:xfrm>
            <a:off x="6217920" y="3703320"/>
            <a:ext cx="2560320" cy="2103120"/>
          </a:xfrm>
          <a:prstGeom prst="rect">
            <a:avLst/>
          </a:prstGeom>
          <a:solidFill>
            <a:schemeClr val="bg2"/>
          </a:solidFill>
          <a:ln w="9525">
            <a:solidFill>
              <a:schemeClr val="bg2"/>
            </a:solidFill>
            <a:prstDash val="solid"/>
          </a:ln>
        </p:spPr>
      </p:sp>
      <p:sp>
        <p:nvSpPr>
          <p:cNvPr id="12" name="Text 10"/>
          <p:cNvSpPr txBox="1"/>
          <p:nvPr/>
        </p:nvSpPr>
        <p:spPr>
          <a:xfrm>
            <a:off x="6446520" y="3931920"/>
            <a:ext cx="2103120" cy="45720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Fraud analysts</a:t>
            </a:r>
            <a:endParaRPr lang="en-US" sz="1700" dirty="0"/>
          </a:p>
        </p:txBody>
      </p:sp>
      <p:sp>
        <p:nvSpPr>
          <p:cNvPr id="13" name="Text 11"/>
          <p:cNvSpPr txBox="1"/>
          <p:nvPr/>
        </p:nvSpPr>
        <p:spPr>
          <a:xfrm>
            <a:off x="6446520" y="4480560"/>
            <a:ext cx="2103120" cy="11887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Review alerts, confirm fraud or mark false positives</a:t>
            </a:r>
            <a:endParaRPr lang="en-US" sz="1400" dirty="0"/>
          </a:p>
        </p:txBody>
      </p:sp>
      <p:sp>
        <p:nvSpPr>
          <p:cNvPr id="14" name="card"/>
          <p:cNvSpPr/>
          <p:nvPr/>
        </p:nvSpPr>
        <p:spPr>
          <a:xfrm>
            <a:off x="8961120" y="3703320"/>
            <a:ext cx="2560320" cy="2103120"/>
          </a:xfrm>
          <a:prstGeom prst="rect">
            <a:avLst/>
          </a:prstGeom>
          <a:solidFill>
            <a:schemeClr val="bg2"/>
          </a:solidFill>
          <a:ln w="9525">
            <a:solidFill>
              <a:schemeClr val="bg2"/>
            </a:solidFill>
            <a:prstDash val="solid"/>
          </a:ln>
        </p:spPr>
      </p:sp>
      <p:sp>
        <p:nvSpPr>
          <p:cNvPr id="15" name="Text 13"/>
          <p:cNvSpPr txBox="1"/>
          <p:nvPr/>
        </p:nvSpPr>
        <p:spPr>
          <a:xfrm>
            <a:off x="9189720" y="3931920"/>
            <a:ext cx="2103120" cy="45720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Auditors and public</a:t>
            </a:r>
            <a:endParaRPr lang="en-US" sz="1700" dirty="0"/>
          </a:p>
        </p:txBody>
      </p:sp>
      <p:sp>
        <p:nvSpPr>
          <p:cNvPr id="16" name="Text 14"/>
          <p:cNvSpPr txBox="1"/>
          <p:nvPr/>
        </p:nvSpPr>
        <p:spPr>
          <a:xfrm>
            <a:off x="9189720" y="4480560"/>
            <a:ext cx="2103120" cy="11887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Audit trail for auditors, anonymous statistics for the public</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Scope and technology stack</a:t>
            </a:r>
            <a:endParaRPr lang="en-US" sz="3400" dirty="0"/>
          </a:p>
        </p:txBody>
      </p:sp>
      <p:sp>
        <p:nvSpPr>
          <p:cNvPr id="3" name="card"/>
          <p:cNvSpPr/>
          <p:nvPr/>
        </p:nvSpPr>
        <p:spPr>
          <a:xfrm>
            <a:off x="548640" y="1371600"/>
            <a:ext cx="3520440" cy="4526280"/>
          </a:xfrm>
          <a:prstGeom prst="rect">
            <a:avLst/>
          </a:prstGeom>
          <a:solidFill>
            <a:schemeClr val="bg2"/>
          </a:solidFill>
          <a:ln w="9525">
            <a:solidFill>
              <a:schemeClr val="bg2"/>
            </a:solidFill>
            <a:prstDash val="solid"/>
          </a:ln>
        </p:spPr>
      </p:sp>
      <p:sp>
        <p:nvSpPr>
          <p:cNvPr id="4" name="Text 2"/>
          <p:cNvSpPr txBox="1"/>
          <p:nvPr/>
        </p:nvSpPr>
        <p:spPr>
          <a:xfrm>
            <a:off x="777240" y="1554480"/>
            <a:ext cx="31089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In scope</a:t>
            </a:r>
            <a:endParaRPr lang="en-US" sz="1800" dirty="0"/>
          </a:p>
        </p:txBody>
      </p:sp>
      <p:sp>
        <p:nvSpPr>
          <p:cNvPr id="5" name="Text 3"/>
          <p:cNvSpPr txBox="1"/>
          <p:nvPr/>
        </p:nvSpPr>
        <p:spPr>
          <a:xfrm>
            <a:off x="777240" y="2011680"/>
            <a:ext cx="3108960" cy="374904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Customers, banks, branches, accounts, UPI IDs</a:t>
            </a:r>
            <a:endParaRPr lang="en-US" sz="1500" dirty="0"/>
          </a:p>
          <a:p>
            <a:pPr marL="228600" indent="-2286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P2P and P2M payments</a:t>
            </a:r>
            <a:endParaRPr lang="en-US" sz="1500" dirty="0"/>
          </a:p>
          <a:p>
            <a:pPr marL="228600" indent="-2286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Merchants and daily settlement</a:t>
            </a:r>
            <a:endParaRPr lang="en-US" sz="1500" dirty="0"/>
          </a:p>
          <a:p>
            <a:pPr marL="228600" indent="-2286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Fraud rules, alerts, disputes</a:t>
            </a:r>
            <a:endParaRPr lang="en-US" sz="1500" dirty="0"/>
          </a:p>
          <a:p>
            <a:pPr marL="228600" indent="-2286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Roles, encryption, audit log</a:t>
            </a:r>
            <a:endParaRPr lang="en-US" sz="1500" dirty="0"/>
          </a:p>
          <a:p>
            <a:pPr marL="228600" indent="-2286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Reports and statistics</a:t>
            </a:r>
            <a:endParaRPr lang="en-US" sz="1500" dirty="0"/>
          </a:p>
        </p:txBody>
      </p:sp>
      <p:sp>
        <p:nvSpPr>
          <p:cNvPr id="6" name="card"/>
          <p:cNvSpPr/>
          <p:nvPr/>
        </p:nvSpPr>
        <p:spPr>
          <a:xfrm>
            <a:off x="4251960" y="1371600"/>
            <a:ext cx="3108960" cy="4526280"/>
          </a:xfrm>
          <a:prstGeom prst="rect">
            <a:avLst/>
          </a:prstGeom>
          <a:solidFill>
            <a:schemeClr val="bg1"/>
          </a:solidFill>
          <a:ln w="9525">
            <a:solidFill>
              <a:schemeClr val="accent4"/>
            </a:solidFill>
            <a:prstDash val="solid"/>
          </a:ln>
        </p:spPr>
      </p:sp>
      <p:sp>
        <p:nvSpPr>
          <p:cNvPr id="7" name="Text 5"/>
          <p:cNvSpPr txBox="1"/>
          <p:nvPr/>
        </p:nvSpPr>
        <p:spPr>
          <a:xfrm>
            <a:off x="4480560" y="1554480"/>
            <a:ext cx="27432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Out of scope</a:t>
            </a:r>
            <a:endParaRPr lang="en-US" sz="1800" dirty="0"/>
          </a:p>
        </p:txBody>
      </p:sp>
      <p:sp>
        <p:nvSpPr>
          <p:cNvPr id="8" name="Text 6"/>
          <p:cNvSpPr txBox="1"/>
          <p:nvPr/>
        </p:nvSpPr>
        <p:spPr>
          <a:xfrm>
            <a:off x="4480560" y="2011680"/>
            <a:ext cx="2743200" cy="374904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Real bank / NPCI connectivity</a:t>
            </a:r>
            <a:endParaRPr lang="en-US" sz="1500" dirty="0"/>
          </a:p>
          <a:p>
            <a:pPr marL="228600" indent="-2286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Machine-learning detection</a:t>
            </a:r>
            <a:endParaRPr lang="en-US" sz="1500" dirty="0"/>
          </a:p>
          <a:p>
            <a:pPr marL="228600" indent="-2286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Mobile app</a:t>
            </a:r>
            <a:endParaRPr lang="en-US" sz="1500" dirty="0"/>
          </a:p>
          <a:p>
            <a:pPr marL="228600" indent="-2286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Distributed or NoSQL storage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589520" y="1371600"/>
          <a:ext cx="4023360" cy="914400"/>
        </p:xfrm>
        <a:graphic>
          <a:graphicData uri="http://schemas.openxmlformats.org/drawingml/2006/table">
            <a:tbl>
              <a:tblPr/>
              <a:tblGrid>
                <a:gridCol w="1463040"/>
                <a:gridCol w="2560320"/>
              </a:tblGrid>
              <a:tr h="38404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Component</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Database</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MySQL 8.0.31+ (InnoDB)</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SQL client</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MySQL Workbench</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ER diagram</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Graphviz / draw.io</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Data loading</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LOAD DATA INFILE</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Scheduling</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MySQL Event Scheduler</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Front end</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Python 3, Tkinter</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Connector</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mysql-connector-python</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ER diagram (Chen notation)</a:t>
            </a:r>
            <a:endParaRPr lang="en-US" sz="3400" dirty="0"/>
          </a:p>
        </p:txBody>
      </p:sp>
      <p:pic>
        <p:nvPicPr>
          <p:cNvPr id="3" name="ERD" descr="/home/claude/UPIShield/docs/erd.png">    </p:cNvPr>
          <p:cNvPicPr>
            <a:picLocks noChangeAspect="1"/>
          </p:cNvPicPr>
          <p:nvPr/>
        </p:nvPicPr>
        <p:blipFill>
          <a:blip r:embed="rId1"/>
          <a:stretch>
            <a:fillRect/>
          </a:stretch>
        </p:blipFill>
        <p:spPr>
          <a:xfrm>
            <a:off x="548640" y="1188720"/>
            <a:ext cx="5760720" cy="5184648"/>
          </a:xfrm>
          <a:prstGeom prst="rect">
            <a:avLst/>
          </a:prstGeom>
        </p:spPr>
      </p:pic>
      <p:sp>
        <p:nvSpPr>
          <p:cNvPr id="4" name="Shape 1"/>
          <p:cNvSpPr/>
          <p:nvPr/>
        </p:nvSpPr>
        <p:spPr>
          <a:xfrm>
            <a:off x="6675120" y="1325880"/>
            <a:ext cx="457200" cy="457200"/>
          </a:xfrm>
          <a:prstGeom prst="ellipse">
            <a:avLst/>
          </a:prstGeom>
          <a:solidFill>
            <a:schemeClr val="bg1"/>
          </a:solidFill>
          <a:ln w="12700">
            <a:solidFill>
              <a:schemeClr val="tx1"/>
            </a:solidFill>
            <a:prstDash val="solid"/>
          </a:ln>
        </p:spPr>
      </p:sp>
      <p:sp>
        <p:nvSpPr>
          <p:cNvPr id="5" name="Text 2"/>
          <p:cNvSpPr txBox="1"/>
          <p:nvPr/>
        </p:nvSpPr>
        <p:spPr>
          <a:xfrm>
            <a:off x="6675120" y="13258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6" name="Text 3"/>
          <p:cNvSpPr txBox="1"/>
          <p:nvPr/>
        </p:nvSpPr>
        <p:spPr>
          <a:xfrm>
            <a:off x="7315200" y="1307592"/>
            <a:ext cx="42976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16 entity sets, 16 relationships</a:t>
            </a:r>
            <a:endParaRPr lang="en-US" sz="1600" dirty="0"/>
          </a:p>
        </p:txBody>
      </p:sp>
      <p:sp>
        <p:nvSpPr>
          <p:cNvPr id="7" name="Text 4"/>
          <p:cNvSpPr txBox="1"/>
          <p:nvPr/>
        </p:nvSpPr>
        <p:spPr>
          <a:xfrm>
            <a:off x="7315200" y="1655064"/>
            <a:ext cx="4297680" cy="566928"/>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Including M:N relationships with attributes: LOGS_IN, SAVES and FLAGS.</a:t>
            </a:r>
            <a:endParaRPr lang="en-US" sz="1300" dirty="0"/>
          </a:p>
        </p:txBody>
      </p:sp>
      <p:sp>
        <p:nvSpPr>
          <p:cNvPr id="8" name="Shape 5"/>
          <p:cNvSpPr/>
          <p:nvPr/>
        </p:nvSpPr>
        <p:spPr>
          <a:xfrm>
            <a:off x="6675120" y="2313432"/>
            <a:ext cx="457200" cy="457200"/>
          </a:xfrm>
          <a:prstGeom prst="ellipse">
            <a:avLst/>
          </a:prstGeom>
          <a:solidFill>
            <a:schemeClr val="bg1"/>
          </a:solidFill>
          <a:ln w="12700">
            <a:solidFill>
              <a:schemeClr val="tx1"/>
            </a:solidFill>
            <a:prstDash val="solid"/>
          </a:ln>
        </p:spPr>
      </p:sp>
      <p:sp>
        <p:nvSpPr>
          <p:cNvPr id="9" name="Text 6"/>
          <p:cNvSpPr txBox="1"/>
          <p:nvPr/>
        </p:nvSpPr>
        <p:spPr>
          <a:xfrm>
            <a:off x="6675120" y="231343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0" name="Text 7"/>
          <p:cNvSpPr txBox="1"/>
          <p:nvPr/>
        </p:nvSpPr>
        <p:spPr>
          <a:xfrm>
            <a:off x="7315200" y="2295144"/>
            <a:ext cx="42976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Disjoint, total specialization</a:t>
            </a:r>
            <a:endParaRPr lang="en-US" sz="1600" dirty="0"/>
          </a:p>
        </p:txBody>
      </p:sp>
      <p:sp>
        <p:nvSpPr>
          <p:cNvPr id="11" name="Text 8"/>
          <p:cNvSpPr txBox="1"/>
          <p:nvPr/>
        </p:nvSpPr>
        <p:spPr>
          <a:xfrm>
            <a:off x="7315200" y="2642616"/>
            <a:ext cx="4297680" cy="566928"/>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BANK_ACCOUNT into SAVINGS / CURRENT; MERCHANT into SMALL / ENTERPRISE.</a:t>
            </a:r>
            <a:endParaRPr lang="en-US" sz="1300" dirty="0"/>
          </a:p>
        </p:txBody>
      </p:sp>
      <p:sp>
        <p:nvSpPr>
          <p:cNvPr id="12" name="Shape 9"/>
          <p:cNvSpPr/>
          <p:nvPr/>
        </p:nvSpPr>
        <p:spPr>
          <a:xfrm>
            <a:off x="6675120" y="3300984"/>
            <a:ext cx="457200" cy="457200"/>
          </a:xfrm>
          <a:prstGeom prst="ellipse">
            <a:avLst/>
          </a:prstGeom>
          <a:solidFill>
            <a:schemeClr val="bg1"/>
          </a:solidFill>
          <a:ln w="12700">
            <a:solidFill>
              <a:schemeClr val="tx1"/>
            </a:solidFill>
            <a:prstDash val="solid"/>
          </a:ln>
        </p:spPr>
      </p:sp>
      <p:sp>
        <p:nvSpPr>
          <p:cNvPr id="13" name="Text 10"/>
          <p:cNvSpPr txBox="1"/>
          <p:nvPr/>
        </p:nvSpPr>
        <p:spPr>
          <a:xfrm>
            <a:off x="6675120" y="330098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7315200" y="3282696"/>
            <a:ext cx="42976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Weak entity</a:t>
            </a:r>
            <a:endParaRPr lang="en-US" sz="1600" dirty="0"/>
          </a:p>
        </p:txBody>
      </p:sp>
      <p:sp>
        <p:nvSpPr>
          <p:cNvPr id="15" name="Text 12"/>
          <p:cNvSpPr txBox="1"/>
          <p:nvPr/>
        </p:nvSpPr>
        <p:spPr>
          <a:xfrm>
            <a:off x="7315200" y="3630168"/>
            <a:ext cx="4297680" cy="566928"/>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DISPUTE is identified by its transaction plus dispute_no (identifying relationship HAS_DISPUTE).</a:t>
            </a:r>
            <a:endParaRPr lang="en-US" sz="1300" dirty="0"/>
          </a:p>
        </p:txBody>
      </p:sp>
      <p:sp>
        <p:nvSpPr>
          <p:cNvPr id="16" name="Shape 13"/>
          <p:cNvSpPr/>
          <p:nvPr/>
        </p:nvSpPr>
        <p:spPr>
          <a:xfrm>
            <a:off x="6675120" y="4288536"/>
            <a:ext cx="457200" cy="457200"/>
          </a:xfrm>
          <a:prstGeom prst="ellipse">
            <a:avLst/>
          </a:prstGeom>
          <a:solidFill>
            <a:schemeClr val="bg1"/>
          </a:solidFill>
          <a:ln w="12700">
            <a:solidFill>
              <a:schemeClr val="tx1"/>
            </a:solidFill>
            <a:prstDash val="solid"/>
          </a:ln>
        </p:spPr>
      </p:sp>
      <p:sp>
        <p:nvSpPr>
          <p:cNvPr id="17" name="Text 14"/>
          <p:cNvSpPr txBox="1"/>
          <p:nvPr/>
        </p:nvSpPr>
        <p:spPr>
          <a:xfrm>
            <a:off x="6675120" y="4288536"/>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18" name="Text 15"/>
          <p:cNvSpPr txBox="1"/>
          <p:nvPr/>
        </p:nvSpPr>
        <p:spPr>
          <a:xfrm>
            <a:off x="7315200" y="4270248"/>
            <a:ext cx="42976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Recursive relationship</a:t>
            </a:r>
            <a:endParaRPr lang="en-US" sz="1600" dirty="0"/>
          </a:p>
        </p:txBody>
      </p:sp>
      <p:sp>
        <p:nvSpPr>
          <p:cNvPr id="19" name="Text 16"/>
          <p:cNvSpPr txBox="1"/>
          <p:nvPr/>
        </p:nvSpPr>
        <p:spPr>
          <a:xfrm>
            <a:off x="7315200" y="4617720"/>
            <a:ext cx="4297680" cy="566928"/>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CUSTOMER REFERS CUSTOMER (referral programme).</a:t>
            </a:r>
            <a:endParaRPr lang="en-US" sz="1300" dirty="0"/>
          </a:p>
        </p:txBody>
      </p:sp>
      <p:sp>
        <p:nvSpPr>
          <p:cNvPr id="20" name="Shape 17"/>
          <p:cNvSpPr/>
          <p:nvPr/>
        </p:nvSpPr>
        <p:spPr>
          <a:xfrm>
            <a:off x="6675120" y="5276088"/>
            <a:ext cx="457200" cy="457200"/>
          </a:xfrm>
          <a:prstGeom prst="ellipse">
            <a:avLst/>
          </a:prstGeom>
          <a:solidFill>
            <a:schemeClr val="bg1"/>
          </a:solidFill>
          <a:ln w="12700">
            <a:solidFill>
              <a:schemeClr val="tx1"/>
            </a:solidFill>
            <a:prstDash val="solid"/>
          </a:ln>
        </p:spPr>
      </p:sp>
      <p:sp>
        <p:nvSpPr>
          <p:cNvPr id="21" name="Text 18"/>
          <p:cNvSpPr txBox="1"/>
          <p:nvPr/>
        </p:nvSpPr>
        <p:spPr>
          <a:xfrm>
            <a:off x="6675120" y="52760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22" name="Text 19"/>
          <p:cNvSpPr txBox="1"/>
          <p:nvPr/>
        </p:nvSpPr>
        <p:spPr>
          <a:xfrm>
            <a:off x="7315200" y="5257800"/>
            <a:ext cx="42976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Participation and derived attributes</a:t>
            </a:r>
            <a:endParaRPr lang="en-US" sz="1600" dirty="0"/>
          </a:p>
        </p:txBody>
      </p:sp>
      <p:sp>
        <p:nvSpPr>
          <p:cNvPr id="23" name="Text 20"/>
          <p:cNvSpPr txBox="1"/>
          <p:nvPr/>
        </p:nvSpPr>
        <p:spPr>
          <a:xfrm>
            <a:off x="7315200" y="5605272"/>
            <a:ext cx="4297680" cy="566928"/>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Double lines show total participation; age and txn_type are derived.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Relational schema and integrity constraints</a:t>
            </a:r>
            <a:endParaRPr lang="en-US" sz="3400" dirty="0"/>
          </a:p>
        </p:txBody>
      </p:sp>
      <p:pic>
        <p:nvPicPr>
          <p:cNvPr id="3" name="Schema diagram" descr="/home/claude/UPIShield/docs/schema_diagram.png">    </p:cNvPr>
          <p:cNvPicPr>
            <a:picLocks noChangeAspect="1"/>
          </p:cNvPicPr>
          <p:nvPr/>
        </p:nvPicPr>
        <p:blipFill>
          <a:blip r:embed="rId1"/>
          <a:stretch>
            <a:fillRect/>
          </a:stretch>
        </p:blipFill>
        <p:spPr>
          <a:xfrm>
            <a:off x="548640" y="1188720"/>
            <a:ext cx="5733288" cy="5193792"/>
          </a:xfrm>
          <a:prstGeom prst="rect">
            <a:avLst/>
          </a:prstGeom>
        </p:spPr>
      </p:pic>
      <p:sp>
        <p:nvSpPr>
          <p:cNvPr id="4" name="card"/>
          <p:cNvSpPr/>
          <p:nvPr/>
        </p:nvSpPr>
        <p:spPr>
          <a:xfrm>
            <a:off x="6675120" y="1280160"/>
            <a:ext cx="2331720" cy="1234440"/>
          </a:xfrm>
          <a:prstGeom prst="rect">
            <a:avLst/>
          </a:prstGeom>
          <a:solidFill>
            <a:schemeClr val="bg2"/>
          </a:solidFill>
          <a:ln w="9525">
            <a:solidFill>
              <a:schemeClr val="bg2"/>
            </a:solidFill>
            <a:prstDash val="solid"/>
          </a:ln>
        </p:spPr>
      </p:sp>
      <p:sp>
        <p:nvSpPr>
          <p:cNvPr id="5" name="Text 2"/>
          <p:cNvSpPr txBox="1"/>
          <p:nvPr/>
        </p:nvSpPr>
        <p:spPr>
          <a:xfrm>
            <a:off x="6903720" y="1389888"/>
            <a:ext cx="1920240"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20</a:t>
            </a:r>
            <a:endParaRPr lang="en-US" sz="4000" dirty="0"/>
          </a:p>
        </p:txBody>
      </p:sp>
      <p:sp>
        <p:nvSpPr>
          <p:cNvPr id="6" name="Text 3"/>
          <p:cNvSpPr txBox="1"/>
          <p:nvPr/>
        </p:nvSpPr>
        <p:spPr>
          <a:xfrm>
            <a:off x="6903720" y="2084832"/>
            <a:ext cx="1920240" cy="320040"/>
          </a:xfrm>
          <a:prstGeom prst="rect">
            <a:avLst/>
          </a:prstGeom>
          <a:noFill/>
          <a:ln/>
        </p:spPr>
        <p:txBody>
          <a:bodyPr wrap="square" lIns="0" tIns="0" rIns="0" bIns="0" rtlCol="0" anchor="t"/>
          <a:lstStyle/>
          <a:p>
            <a:pPr indent="0" marL="0">
              <a:buNone/>
            </a:pPr>
            <a:r>
              <a:rPr lang="en-US" sz="1300" dirty="0">
                <a:solidFill>
                  <a:schemeClr val="accent2"/>
                </a:solidFill>
                <a:latin typeface="Calibri" pitchFamily="34" charset="0"/>
                <a:ea typeface="Calibri" pitchFamily="34" charset="-122"/>
                <a:cs typeface="Calibri" pitchFamily="34" charset="-120"/>
              </a:rPr>
              <a:t>tables</a:t>
            </a:r>
            <a:endParaRPr lang="en-US" sz="1300" dirty="0"/>
          </a:p>
        </p:txBody>
      </p:sp>
      <p:sp>
        <p:nvSpPr>
          <p:cNvPr id="7" name="card"/>
          <p:cNvSpPr/>
          <p:nvPr/>
        </p:nvSpPr>
        <p:spPr>
          <a:xfrm>
            <a:off x="9189720" y="1280160"/>
            <a:ext cx="2331720" cy="1234440"/>
          </a:xfrm>
          <a:prstGeom prst="rect">
            <a:avLst/>
          </a:prstGeom>
          <a:solidFill>
            <a:schemeClr val="bg2"/>
          </a:solidFill>
          <a:ln w="9525">
            <a:solidFill>
              <a:schemeClr val="bg2"/>
            </a:solidFill>
            <a:prstDash val="solid"/>
          </a:ln>
        </p:spPr>
      </p:sp>
      <p:sp>
        <p:nvSpPr>
          <p:cNvPr id="8" name="Text 5"/>
          <p:cNvSpPr txBox="1"/>
          <p:nvPr/>
        </p:nvSpPr>
        <p:spPr>
          <a:xfrm>
            <a:off x="9418320" y="1389888"/>
            <a:ext cx="1920240"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23</a:t>
            </a:r>
            <a:endParaRPr lang="en-US" sz="4000" dirty="0"/>
          </a:p>
        </p:txBody>
      </p:sp>
      <p:sp>
        <p:nvSpPr>
          <p:cNvPr id="9" name="Text 6"/>
          <p:cNvSpPr txBox="1"/>
          <p:nvPr/>
        </p:nvSpPr>
        <p:spPr>
          <a:xfrm>
            <a:off x="9418320" y="2084832"/>
            <a:ext cx="1920240" cy="320040"/>
          </a:xfrm>
          <a:prstGeom prst="rect">
            <a:avLst/>
          </a:prstGeom>
          <a:noFill/>
          <a:ln/>
        </p:spPr>
        <p:txBody>
          <a:bodyPr wrap="square" lIns="0" tIns="0" rIns="0" bIns="0" rtlCol="0" anchor="t"/>
          <a:lstStyle/>
          <a:p>
            <a:pPr indent="0" marL="0">
              <a:buNone/>
            </a:pPr>
            <a:r>
              <a:rPr lang="en-US" sz="1300" dirty="0">
                <a:solidFill>
                  <a:schemeClr val="accent2"/>
                </a:solidFill>
                <a:latin typeface="Calibri" pitchFamily="34" charset="0"/>
                <a:ea typeface="Calibri" pitchFamily="34" charset="-122"/>
                <a:cs typeface="Calibri" pitchFamily="34" charset="-120"/>
              </a:rPr>
              <a:t>foreign keys</a:t>
            </a:r>
            <a:endParaRPr lang="en-US" sz="1300" dirty="0"/>
          </a:p>
        </p:txBody>
      </p:sp>
      <p:sp>
        <p:nvSpPr>
          <p:cNvPr id="10" name="card"/>
          <p:cNvSpPr/>
          <p:nvPr/>
        </p:nvSpPr>
        <p:spPr>
          <a:xfrm>
            <a:off x="6675120" y="2697480"/>
            <a:ext cx="2331720" cy="1234440"/>
          </a:xfrm>
          <a:prstGeom prst="rect">
            <a:avLst/>
          </a:prstGeom>
          <a:solidFill>
            <a:schemeClr val="bg2"/>
          </a:solidFill>
          <a:ln w="9525">
            <a:solidFill>
              <a:schemeClr val="bg2"/>
            </a:solidFill>
            <a:prstDash val="solid"/>
          </a:ln>
        </p:spPr>
      </p:sp>
      <p:sp>
        <p:nvSpPr>
          <p:cNvPr id="11" name="Text 8"/>
          <p:cNvSpPr txBox="1"/>
          <p:nvPr/>
        </p:nvSpPr>
        <p:spPr>
          <a:xfrm>
            <a:off x="6903720" y="2807208"/>
            <a:ext cx="1920240"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41</a:t>
            </a:r>
            <a:endParaRPr lang="en-US" sz="4000" dirty="0"/>
          </a:p>
        </p:txBody>
      </p:sp>
      <p:sp>
        <p:nvSpPr>
          <p:cNvPr id="12" name="Text 9"/>
          <p:cNvSpPr txBox="1"/>
          <p:nvPr/>
        </p:nvSpPr>
        <p:spPr>
          <a:xfrm>
            <a:off x="6903720" y="3502152"/>
            <a:ext cx="1920240" cy="320040"/>
          </a:xfrm>
          <a:prstGeom prst="rect">
            <a:avLst/>
          </a:prstGeom>
          <a:noFill/>
          <a:ln/>
        </p:spPr>
        <p:txBody>
          <a:bodyPr wrap="square" lIns="0" tIns="0" rIns="0" bIns="0" rtlCol="0" anchor="t"/>
          <a:lstStyle/>
          <a:p>
            <a:pPr indent="0" marL="0">
              <a:buNone/>
            </a:pPr>
            <a:r>
              <a:rPr lang="en-US" sz="1300" dirty="0">
                <a:solidFill>
                  <a:schemeClr val="accent2"/>
                </a:solidFill>
                <a:latin typeface="Calibri" pitchFamily="34" charset="0"/>
                <a:ea typeface="Calibri" pitchFamily="34" charset="-122"/>
                <a:cs typeface="Calibri" pitchFamily="34" charset="-120"/>
              </a:rPr>
              <a:t>CHECK constraints</a:t>
            </a:r>
            <a:endParaRPr lang="en-US" sz="1300" dirty="0"/>
          </a:p>
        </p:txBody>
      </p:sp>
      <p:sp>
        <p:nvSpPr>
          <p:cNvPr id="13" name="card"/>
          <p:cNvSpPr/>
          <p:nvPr/>
        </p:nvSpPr>
        <p:spPr>
          <a:xfrm>
            <a:off x="9189720" y="2697480"/>
            <a:ext cx="2331720" cy="1234440"/>
          </a:xfrm>
          <a:prstGeom prst="rect">
            <a:avLst/>
          </a:prstGeom>
          <a:solidFill>
            <a:schemeClr val="bg2"/>
          </a:solidFill>
          <a:ln w="9525">
            <a:solidFill>
              <a:schemeClr val="bg2"/>
            </a:solidFill>
            <a:prstDash val="solid"/>
          </a:ln>
        </p:spPr>
      </p:sp>
      <p:sp>
        <p:nvSpPr>
          <p:cNvPr id="14" name="Text 11"/>
          <p:cNvSpPr txBox="1"/>
          <p:nvPr/>
        </p:nvSpPr>
        <p:spPr>
          <a:xfrm>
            <a:off x="9418320" y="2807208"/>
            <a:ext cx="1920240" cy="685800"/>
          </a:xfrm>
          <a:prstGeom prst="rect">
            <a:avLst/>
          </a:prstGeom>
          <a:noFill/>
          <a:ln/>
        </p:spPr>
        <p:txBody>
          <a:bodyPr wrap="square" lIns="0" tIns="0" rIns="0" bIns="0" rtlCol="0" anchor="t"/>
          <a:lstStyle/>
          <a:p>
            <a:pPr indent="0" marL="0">
              <a:buNone/>
            </a:pPr>
            <a:r>
              <a:rPr lang="en-US" sz="4000" b="1" dirty="0">
                <a:solidFill>
                  <a:schemeClr val="tx1"/>
                </a:solidFill>
                <a:latin typeface="Cambria" pitchFamily="34" charset="0"/>
                <a:ea typeface="Cambria" pitchFamily="34" charset="-122"/>
                <a:cs typeface="Cambria" pitchFamily="34" charset="-120"/>
              </a:rPr>
              <a:t>7</a:t>
            </a:r>
            <a:endParaRPr lang="en-US" sz="4000" dirty="0"/>
          </a:p>
        </p:txBody>
      </p:sp>
      <p:sp>
        <p:nvSpPr>
          <p:cNvPr id="15" name="Text 12"/>
          <p:cNvSpPr txBox="1"/>
          <p:nvPr/>
        </p:nvSpPr>
        <p:spPr>
          <a:xfrm>
            <a:off x="9418320" y="3502152"/>
            <a:ext cx="1920240" cy="320040"/>
          </a:xfrm>
          <a:prstGeom prst="rect">
            <a:avLst/>
          </a:prstGeom>
          <a:noFill/>
          <a:ln/>
        </p:spPr>
        <p:txBody>
          <a:bodyPr wrap="square" lIns="0" tIns="0" rIns="0" bIns="0" rtlCol="0" anchor="t"/>
          <a:lstStyle/>
          <a:p>
            <a:pPr indent="0" marL="0">
              <a:buNone/>
            </a:pPr>
            <a:r>
              <a:rPr lang="en-US" sz="1300" dirty="0">
                <a:solidFill>
                  <a:schemeClr val="accent2"/>
                </a:solidFill>
                <a:latin typeface="Calibri" pitchFamily="34" charset="0"/>
                <a:ea typeface="Calibri" pitchFamily="34" charset="-122"/>
                <a:cs typeface="Calibri" pitchFamily="34" charset="-120"/>
              </a:rPr>
              <a:t>views</a:t>
            </a:r>
            <a:endParaRPr lang="en-US" sz="1300" dirty="0"/>
          </a:p>
        </p:txBody>
      </p:sp>
      <p:sp>
        <p:nvSpPr>
          <p:cNvPr id="16" name="Text 13"/>
          <p:cNvSpPr txBox="1"/>
          <p:nvPr/>
        </p:nvSpPr>
        <p:spPr>
          <a:xfrm>
            <a:off x="6675120" y="4206240"/>
            <a:ext cx="4937760" cy="2103120"/>
          </a:xfrm>
          <a:prstGeom prst="rect">
            <a:avLst/>
          </a:prstGeom>
          <a:noFill/>
          <a:ln/>
        </p:spPr>
        <p:txBody>
          <a:bodyPr wrap="square" lIns="0" tIns="0" rIns="0" bIns="0" rtlCol="0" anchor="t"/>
          <a:lstStyle/>
          <a:p>
            <a:pPr marL="228600" indent="-2286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Specializations mapped as one table per subclass sharing the superclass key</a:t>
            </a:r>
            <a:endParaRPr lang="en-US" sz="1500" dirty="0"/>
          </a:p>
          <a:p>
            <a:pPr marL="228600" indent="-2286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Each M:N relationship became its own table (device_login, saved_payee, fraud_alert)</a:t>
            </a:r>
            <a:endParaRPr lang="en-US" sz="1500" dirty="0"/>
          </a:p>
          <a:p>
            <a:pPr marL="228600" indent="-2286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Every foreign key has an explicit ON UPDATE / ON DELETE action, chosen for the cascade demos</a:t>
            </a:r>
            <a:endParaRPr lang="en-US" sz="1500" dirty="0"/>
          </a:p>
          <a:p>
            <a:pPr marL="228600" indent="-2286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Domains enforced with CHECK and REGEXP: phone, IFSC, GSTIN and UPI ID formats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Normalization: from one report sheet to 3NF / BCNF</a:t>
            </a:r>
            <a:endParaRPr lang="en-US" sz="3400" dirty="0"/>
          </a:p>
        </p:txBody>
      </p:sp>
      <p:sp>
        <p:nvSpPr>
          <p:cNvPr id="3" name="card"/>
          <p:cNvSpPr/>
          <p:nvPr/>
        </p:nvSpPr>
        <p:spPr>
          <a:xfrm>
            <a:off x="548640" y="1371600"/>
            <a:ext cx="2651760" cy="3291840"/>
          </a:xfrm>
          <a:prstGeom prst="rect">
            <a:avLst/>
          </a:prstGeom>
          <a:solidFill>
            <a:schemeClr val="bg2"/>
          </a:solidFill>
          <a:ln w="9525">
            <a:solidFill>
              <a:schemeClr val="bg2"/>
            </a:solidFill>
            <a:prstDash val="solid"/>
          </a:ln>
        </p:spPr>
      </p:sp>
      <p:sp>
        <p:nvSpPr>
          <p:cNvPr id="4" name="Text 2"/>
          <p:cNvSpPr txBox="1"/>
          <p:nvPr/>
        </p:nvSpPr>
        <p:spPr>
          <a:xfrm>
            <a:off x="777240" y="1554480"/>
            <a:ext cx="2194560" cy="64008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UNF</a:t>
            </a:r>
            <a:endParaRPr lang="en-US" sz="3200" dirty="0"/>
          </a:p>
        </p:txBody>
      </p:sp>
      <p:sp>
        <p:nvSpPr>
          <p:cNvPr id="5" name="Text 3"/>
          <p:cNvSpPr txBox="1"/>
          <p:nvPr/>
        </p:nvSpPr>
        <p:spPr>
          <a:xfrm>
            <a:off x="777240" y="2240280"/>
            <a:ext cx="2194560" cy="5486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Flat UPI alert report</a:t>
            </a:r>
            <a:endParaRPr lang="en-US" sz="1500" dirty="0"/>
          </a:p>
        </p:txBody>
      </p:sp>
      <p:sp>
        <p:nvSpPr>
          <p:cNvPr id="6" name="Text 4"/>
          <p:cNvSpPr txBox="1"/>
          <p:nvPr/>
        </p:nvSpPr>
        <p:spPr>
          <a:xfrm>
            <a:off x="777240" y="2834640"/>
            <a:ext cx="2240280" cy="17373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One sheet mixing transaction, customer, bank, merchant and device data. alert_rules is multi-valued.</a:t>
            </a:r>
            <a:endParaRPr lang="en-US" sz="1300" dirty="0"/>
          </a:p>
        </p:txBody>
      </p:sp>
      <p:sp>
        <p:nvSpPr>
          <p:cNvPr id="7" name="Shape 5"/>
          <p:cNvSpPr/>
          <p:nvPr/>
        </p:nvSpPr>
        <p:spPr>
          <a:xfrm>
            <a:off x="3227832" y="2880360"/>
            <a:ext cx="137160" cy="274320"/>
          </a:xfrm>
          <a:prstGeom prst="chevron">
            <a:avLst/>
          </a:prstGeom>
          <a:solidFill>
            <a:schemeClr val="accent3"/>
          </a:solidFill>
          <a:ln w="12700">
            <a:solidFill>
              <a:schemeClr val="accent3"/>
            </a:solidFill>
            <a:prstDash val="solid"/>
          </a:ln>
        </p:spPr>
      </p:sp>
      <p:sp>
        <p:nvSpPr>
          <p:cNvPr id="8" name="card"/>
          <p:cNvSpPr/>
          <p:nvPr/>
        </p:nvSpPr>
        <p:spPr>
          <a:xfrm>
            <a:off x="3383280" y="1371600"/>
            <a:ext cx="2651760" cy="3291840"/>
          </a:xfrm>
          <a:prstGeom prst="rect">
            <a:avLst/>
          </a:prstGeom>
          <a:solidFill>
            <a:schemeClr val="bg2"/>
          </a:solidFill>
          <a:ln w="9525">
            <a:solidFill>
              <a:schemeClr val="bg2"/>
            </a:solidFill>
            <a:prstDash val="solid"/>
          </a:ln>
        </p:spPr>
      </p:sp>
      <p:sp>
        <p:nvSpPr>
          <p:cNvPr id="9" name="Text 7"/>
          <p:cNvSpPr txBox="1"/>
          <p:nvPr/>
        </p:nvSpPr>
        <p:spPr>
          <a:xfrm>
            <a:off x="3611880" y="1554480"/>
            <a:ext cx="2194560" cy="64008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1NF</a:t>
            </a:r>
            <a:endParaRPr lang="en-US" sz="3200" dirty="0"/>
          </a:p>
        </p:txBody>
      </p:sp>
      <p:sp>
        <p:nvSpPr>
          <p:cNvPr id="10" name="Text 8"/>
          <p:cNvSpPr txBox="1"/>
          <p:nvPr/>
        </p:nvSpPr>
        <p:spPr>
          <a:xfrm>
            <a:off x="3611880" y="2240280"/>
            <a:ext cx="2194560" cy="5486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Atomic values</a:t>
            </a:r>
            <a:endParaRPr lang="en-US" sz="1500" dirty="0"/>
          </a:p>
        </p:txBody>
      </p:sp>
      <p:sp>
        <p:nvSpPr>
          <p:cNvPr id="11" name="Text 9"/>
          <p:cNvSpPr txBox="1"/>
          <p:nvPr/>
        </p:nvSpPr>
        <p:spPr>
          <a:xfrm>
            <a:off x="3611880" y="2834640"/>
            <a:ext cx="2240280" cy="17373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One row per (transaction, rule). Key becomes (txn_id, rule_code).</a:t>
            </a:r>
            <a:endParaRPr lang="en-US" sz="1300" dirty="0"/>
          </a:p>
        </p:txBody>
      </p:sp>
      <p:sp>
        <p:nvSpPr>
          <p:cNvPr id="12" name="Shape 10"/>
          <p:cNvSpPr/>
          <p:nvPr/>
        </p:nvSpPr>
        <p:spPr>
          <a:xfrm>
            <a:off x="6062472" y="2880360"/>
            <a:ext cx="137160" cy="274320"/>
          </a:xfrm>
          <a:prstGeom prst="chevron">
            <a:avLst/>
          </a:prstGeom>
          <a:solidFill>
            <a:schemeClr val="accent3"/>
          </a:solidFill>
          <a:ln w="12700">
            <a:solidFill>
              <a:schemeClr val="accent3"/>
            </a:solidFill>
            <a:prstDash val="solid"/>
          </a:ln>
        </p:spPr>
      </p:sp>
      <p:sp>
        <p:nvSpPr>
          <p:cNvPr id="13" name="card"/>
          <p:cNvSpPr/>
          <p:nvPr/>
        </p:nvSpPr>
        <p:spPr>
          <a:xfrm>
            <a:off x="6217920" y="1371600"/>
            <a:ext cx="2651760" cy="3291840"/>
          </a:xfrm>
          <a:prstGeom prst="rect">
            <a:avLst/>
          </a:prstGeom>
          <a:solidFill>
            <a:schemeClr val="bg2"/>
          </a:solidFill>
          <a:ln w="9525">
            <a:solidFill>
              <a:schemeClr val="bg2"/>
            </a:solidFill>
            <a:prstDash val="solid"/>
          </a:ln>
        </p:spPr>
      </p:sp>
      <p:sp>
        <p:nvSpPr>
          <p:cNvPr id="14" name="Text 12"/>
          <p:cNvSpPr txBox="1"/>
          <p:nvPr/>
        </p:nvSpPr>
        <p:spPr>
          <a:xfrm>
            <a:off x="6446520" y="1554480"/>
            <a:ext cx="2194560" cy="640080"/>
          </a:xfrm>
          <a:prstGeom prst="rect">
            <a:avLst/>
          </a:prstGeom>
          <a:noFill/>
          <a:ln/>
        </p:spPr>
        <p:txBody>
          <a:bodyPr wrap="square" lIns="0" tIns="0" rIns="0" bIns="0" rtlCol="0" anchor="t"/>
          <a:lstStyle/>
          <a:p>
            <a:pPr indent="0" marL="0">
              <a:buNone/>
            </a:pPr>
            <a:r>
              <a:rPr lang="en-US" sz="3200" b="1" dirty="0">
                <a:solidFill>
                  <a:schemeClr val="tx1"/>
                </a:solidFill>
                <a:latin typeface="Cambria" pitchFamily="34" charset="0"/>
                <a:ea typeface="Cambria" pitchFamily="34" charset="-122"/>
                <a:cs typeface="Cambria" pitchFamily="34" charset="-120"/>
              </a:rPr>
              <a:t>2NF</a:t>
            </a:r>
            <a:endParaRPr lang="en-US" sz="3200" dirty="0"/>
          </a:p>
        </p:txBody>
      </p:sp>
      <p:sp>
        <p:nvSpPr>
          <p:cNvPr id="15" name="Text 13"/>
          <p:cNvSpPr txBox="1"/>
          <p:nvPr/>
        </p:nvSpPr>
        <p:spPr>
          <a:xfrm>
            <a:off x="6446520" y="2240280"/>
            <a:ext cx="2194560" cy="5486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Remove partial dependencies</a:t>
            </a:r>
            <a:endParaRPr lang="en-US" sz="1500" dirty="0"/>
          </a:p>
        </p:txBody>
      </p:sp>
      <p:sp>
        <p:nvSpPr>
          <p:cNvPr id="16" name="Text 14"/>
          <p:cNvSpPr txBox="1"/>
          <p:nvPr/>
        </p:nvSpPr>
        <p:spPr>
          <a:xfrm>
            <a:off x="6446520" y="2834640"/>
            <a:ext cx="2240280" cy="17373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txn_id determines the transaction data; rule_code determines rule data. Split into 3 relations.</a:t>
            </a:r>
            <a:endParaRPr lang="en-US" sz="1300" dirty="0"/>
          </a:p>
        </p:txBody>
      </p:sp>
      <p:sp>
        <p:nvSpPr>
          <p:cNvPr id="17" name="Shape 15"/>
          <p:cNvSpPr/>
          <p:nvPr/>
        </p:nvSpPr>
        <p:spPr>
          <a:xfrm>
            <a:off x="8897112" y="2880360"/>
            <a:ext cx="137160" cy="274320"/>
          </a:xfrm>
          <a:prstGeom prst="chevron">
            <a:avLst/>
          </a:prstGeom>
          <a:solidFill>
            <a:schemeClr val="accent3"/>
          </a:solidFill>
          <a:ln w="12700">
            <a:solidFill>
              <a:schemeClr val="accent3"/>
            </a:solidFill>
            <a:prstDash val="solid"/>
          </a:ln>
        </p:spPr>
      </p:sp>
      <p:sp>
        <p:nvSpPr>
          <p:cNvPr id="18" name="card"/>
          <p:cNvSpPr/>
          <p:nvPr/>
        </p:nvSpPr>
        <p:spPr>
          <a:xfrm>
            <a:off x="9052560" y="1371600"/>
            <a:ext cx="2651760" cy="3291840"/>
          </a:xfrm>
          <a:prstGeom prst="rect">
            <a:avLst/>
          </a:prstGeom>
          <a:solidFill>
            <a:schemeClr val="tx1"/>
          </a:solidFill>
          <a:ln w="9525">
            <a:solidFill>
              <a:schemeClr val="tx1"/>
            </a:solidFill>
            <a:prstDash val="solid"/>
          </a:ln>
        </p:spPr>
      </p:sp>
      <p:sp>
        <p:nvSpPr>
          <p:cNvPr id="19" name="Text 17"/>
          <p:cNvSpPr txBox="1"/>
          <p:nvPr/>
        </p:nvSpPr>
        <p:spPr>
          <a:xfrm>
            <a:off x="9281160" y="1554480"/>
            <a:ext cx="2194560" cy="64008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3NF</a:t>
            </a:r>
            <a:endParaRPr lang="en-US" sz="3200" dirty="0"/>
          </a:p>
        </p:txBody>
      </p:sp>
      <p:sp>
        <p:nvSpPr>
          <p:cNvPr id="20" name="Text 18"/>
          <p:cNvSpPr txBox="1"/>
          <p:nvPr/>
        </p:nvSpPr>
        <p:spPr>
          <a:xfrm>
            <a:off x="9281160" y="2240280"/>
            <a:ext cx="2194560" cy="54864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Remove transitive dependencies</a:t>
            </a:r>
            <a:endParaRPr lang="en-US" sz="1500" dirty="0"/>
          </a:p>
        </p:txBody>
      </p:sp>
      <p:sp>
        <p:nvSpPr>
          <p:cNvPr id="21" name="Text 19"/>
          <p:cNvSpPr txBox="1"/>
          <p:nvPr/>
        </p:nvSpPr>
        <p:spPr>
          <a:xfrm>
            <a:off x="9281160" y="2834640"/>
            <a:ext cx="2240280" cy="173736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Chains such as txn_id to payer_vpa to account_id to customer_id split into 11 relations.</a:t>
            </a:r>
            <a:endParaRPr lang="en-US" sz="1300" dirty="0"/>
          </a:p>
        </p:txBody>
      </p:sp>
      <p:sp>
        <p:nvSpPr>
          <p:cNvPr id="22" name="card"/>
          <p:cNvSpPr/>
          <p:nvPr/>
        </p:nvSpPr>
        <p:spPr>
          <a:xfrm>
            <a:off x="548640" y="4892040"/>
            <a:ext cx="11064240" cy="1280160"/>
          </a:xfrm>
          <a:prstGeom prst="rect">
            <a:avLst/>
          </a:prstGeom>
          <a:solidFill>
            <a:schemeClr val="bg1"/>
          </a:solidFill>
          <a:ln w="9525">
            <a:solidFill>
              <a:schemeClr val="accent4"/>
            </a:solidFill>
            <a:prstDash val="solid"/>
          </a:ln>
        </p:spPr>
      </p:sp>
      <p:sp>
        <p:nvSpPr>
          <p:cNvPr id="23" name="Text 21"/>
          <p:cNvSpPr txBox="1"/>
          <p:nvPr/>
        </p:nvSpPr>
        <p:spPr>
          <a:xfrm>
            <a:off x="777240" y="5029200"/>
            <a:ext cx="182880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Verified</a:t>
            </a:r>
            <a:endParaRPr lang="en-US" sz="1600" dirty="0"/>
          </a:p>
        </p:txBody>
      </p:sp>
      <p:sp>
        <p:nvSpPr>
          <p:cNvPr id="24" name="Text 22"/>
          <p:cNvSpPr txBox="1"/>
          <p:nvPr/>
        </p:nvSpPr>
        <p:spPr>
          <a:xfrm>
            <a:off x="777240" y="5394960"/>
            <a:ext cx="1060704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13 functional dependencies listed, closures computed with Armstrong's axioms, minimal cover derived. Every split is lossless (common attribute is a key) and dependency-preserving. All final relations are also in BCNF, because phone and vpa_id are candidate keys.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SQL implementation covers every guideline item</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920240"/>
                <a:gridCol w="8229600"/>
                <a:gridCol w="91440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Category</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is demonstrated</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File</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DDL</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CREATE with all constraints, ALTER, RENAME, TRUNCATE, DROP</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q01</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DML</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INSERT; UPDATE and DELETE, each with and without cascade</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q02</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DCL</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GRANT / REVOKE on roles, users, columns, WITH GRANT OPTION</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q03</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TCL</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COMMIT, SAVEPOINT, ROLLBACK, autocommit, implicit commit</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q04</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DQL</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WHERE, aggregates, IN / LIKE / DISTINCT, ORDER BY / LIMIT / OFFSET, GROUP BY / HAVING</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q05</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Joins and sets</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Inner, left, right, full (emulated), cross, natural, self; UNION, INTERSECT, EXCEPT, ANY, ALL</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q05</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Subqueries</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Scalar, IN, correlated, EXISTS / NOT EXISTS, derived table, CTE</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q06</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Views</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Updatable view WITH CHECK OPTION, aggregate views, materialized views</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q07</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Programs</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6 functions, 8 procedures, 12 triggers</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q08</a:t>
                      </a:r>
                      <a:endParaRPr lang="en-US" sz="14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ACID payments: inside sp_transfer</a:t>
            </a:r>
            <a:endParaRPr lang="en-US" sz="3400" dirty="0"/>
          </a:p>
        </p:txBody>
      </p:sp>
      <p:sp>
        <p:nvSpPr>
          <p:cNvPr id="3" name="Shape 1"/>
          <p:cNvSpPr/>
          <p:nvPr/>
        </p:nvSpPr>
        <p:spPr>
          <a:xfrm>
            <a:off x="548640" y="1325880"/>
            <a:ext cx="457200" cy="457200"/>
          </a:xfrm>
          <a:prstGeom prst="ellipse">
            <a:avLst/>
          </a:prstGeom>
          <a:solidFill>
            <a:schemeClr val="tx1"/>
          </a:solidFill>
          <a:ln w="12700">
            <a:solidFill>
              <a:schemeClr val="tx1"/>
            </a:solidFill>
            <a:prstDash val="solid"/>
          </a:ln>
        </p:spPr>
      </p:sp>
      <p:sp>
        <p:nvSpPr>
          <p:cNvPr id="4" name="Text 2"/>
          <p:cNvSpPr txBox="1"/>
          <p:nvPr/>
        </p:nvSpPr>
        <p:spPr>
          <a:xfrm>
            <a:off x="54864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188720" y="1371600"/>
            <a:ext cx="484632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Validate the UPI IDs and the amount</a:t>
            </a:r>
            <a:endParaRPr lang="en-US" sz="1500" dirty="0"/>
          </a:p>
        </p:txBody>
      </p:sp>
      <p:sp>
        <p:nvSpPr>
          <p:cNvPr id="6" name="Shape 4"/>
          <p:cNvSpPr/>
          <p:nvPr/>
        </p:nvSpPr>
        <p:spPr>
          <a:xfrm>
            <a:off x="548640" y="2103120"/>
            <a:ext cx="457200" cy="457200"/>
          </a:xfrm>
          <a:prstGeom prst="ellipse">
            <a:avLst/>
          </a:prstGeom>
          <a:solidFill>
            <a:schemeClr val="tx1"/>
          </a:solidFill>
          <a:ln w="12700">
            <a:solidFill>
              <a:schemeClr val="tx1"/>
            </a:solidFill>
            <a:prstDash val="solid"/>
          </a:ln>
        </p:spPr>
      </p:sp>
      <p:sp>
        <p:nvSpPr>
          <p:cNvPr id="7" name="Text 5"/>
          <p:cNvSpPr txBox="1"/>
          <p:nvPr/>
        </p:nvSpPr>
        <p:spPr>
          <a:xfrm>
            <a:off x="548640"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1188720" y="2148840"/>
            <a:ext cx="484632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START TRANSACTION and lock both accounts (FOR UPDATE, ascending id)</a:t>
            </a:r>
            <a:endParaRPr lang="en-US" sz="1500" dirty="0"/>
          </a:p>
        </p:txBody>
      </p:sp>
      <p:sp>
        <p:nvSpPr>
          <p:cNvPr id="9" name="Shape 7"/>
          <p:cNvSpPr/>
          <p:nvPr/>
        </p:nvSpPr>
        <p:spPr>
          <a:xfrm>
            <a:off x="548640" y="2880360"/>
            <a:ext cx="457200" cy="457200"/>
          </a:xfrm>
          <a:prstGeom prst="ellipse">
            <a:avLst/>
          </a:prstGeom>
          <a:solidFill>
            <a:schemeClr val="tx1"/>
          </a:solidFill>
          <a:ln w="12700">
            <a:solidFill>
              <a:schemeClr val="tx1"/>
            </a:solidFill>
            <a:prstDash val="solid"/>
          </a:ln>
        </p:spPr>
      </p:sp>
      <p:sp>
        <p:nvSpPr>
          <p:cNvPr id="10" name="Text 8"/>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1" name="Text 9"/>
          <p:cNvSpPr txBox="1"/>
          <p:nvPr/>
        </p:nvSpPr>
        <p:spPr>
          <a:xfrm>
            <a:off x="1188720" y="2926080"/>
            <a:ext cx="484632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Check status and minimum balance</a:t>
            </a:r>
            <a:endParaRPr lang="en-US" sz="1500" dirty="0"/>
          </a:p>
        </p:txBody>
      </p:sp>
      <p:sp>
        <p:nvSpPr>
          <p:cNvPr id="12" name="Shape 10"/>
          <p:cNvSpPr/>
          <p:nvPr/>
        </p:nvSpPr>
        <p:spPr>
          <a:xfrm>
            <a:off x="548640" y="3657600"/>
            <a:ext cx="457200" cy="457200"/>
          </a:xfrm>
          <a:prstGeom prst="ellipse">
            <a:avLst/>
          </a:prstGeom>
          <a:solidFill>
            <a:schemeClr val="tx1"/>
          </a:solidFill>
          <a:ln w="12700">
            <a:solidFill>
              <a:schemeClr val="tx1"/>
            </a:solidFill>
            <a:prstDash val="solid"/>
          </a:ln>
        </p:spPr>
      </p:sp>
      <p:sp>
        <p:nvSpPr>
          <p:cNvPr id="13" name="Text 11"/>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14" name="Text 12"/>
          <p:cNvSpPr txBox="1"/>
          <p:nvPr/>
        </p:nvSpPr>
        <p:spPr>
          <a:xfrm>
            <a:off x="1188720" y="3703320"/>
            <a:ext cx="484632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INSERT the payment; triggers run the daily limit and fraud rules</a:t>
            </a:r>
            <a:endParaRPr lang="en-US" sz="1500" dirty="0"/>
          </a:p>
        </p:txBody>
      </p:sp>
      <p:sp>
        <p:nvSpPr>
          <p:cNvPr id="15" name="Shape 13"/>
          <p:cNvSpPr/>
          <p:nvPr/>
        </p:nvSpPr>
        <p:spPr>
          <a:xfrm>
            <a:off x="548640" y="4434840"/>
            <a:ext cx="457200" cy="457200"/>
          </a:xfrm>
          <a:prstGeom prst="ellipse">
            <a:avLst/>
          </a:prstGeom>
          <a:solidFill>
            <a:schemeClr val="tx1"/>
          </a:solidFill>
          <a:ln w="12700">
            <a:solidFill>
              <a:schemeClr val="tx1"/>
            </a:solidFill>
            <a:prstDash val="solid"/>
          </a:ln>
        </p:spPr>
      </p:sp>
      <p:sp>
        <p:nvSpPr>
          <p:cNvPr id="16" name="Text 14"/>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17" name="Text 15"/>
          <p:cNvSpPr txBox="1"/>
          <p:nvPr/>
        </p:nvSpPr>
        <p:spPr>
          <a:xfrm>
            <a:off x="1188720" y="4480560"/>
            <a:ext cx="484632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Debit payer, credit payee, COMMIT</a:t>
            </a:r>
            <a:endParaRPr lang="en-US" sz="1500" dirty="0"/>
          </a:p>
        </p:txBody>
      </p:sp>
      <p:sp>
        <p:nvSpPr>
          <p:cNvPr id="18" name="Shape 16"/>
          <p:cNvSpPr/>
          <p:nvPr/>
        </p:nvSpPr>
        <p:spPr>
          <a:xfrm>
            <a:off x="548640" y="5212080"/>
            <a:ext cx="457200" cy="457200"/>
          </a:xfrm>
          <a:prstGeom prst="ellipse">
            <a:avLst/>
          </a:prstGeom>
          <a:solidFill>
            <a:schemeClr val="bg1"/>
          </a:solidFill>
          <a:ln w="12700">
            <a:solidFill>
              <a:schemeClr val="tx1"/>
            </a:solidFill>
            <a:prstDash val="solid"/>
          </a:ln>
        </p:spPr>
      </p:sp>
      <p:sp>
        <p:nvSpPr>
          <p:cNvPr id="19" name="Text 17"/>
          <p:cNvSpPr txBox="1"/>
          <p:nvPr/>
        </p:nvSpPr>
        <p:spPr>
          <a:xfrm>
            <a:off x="548640" y="5212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6</a:t>
            </a:r>
            <a:endParaRPr lang="en-US" sz="1600" dirty="0"/>
          </a:p>
        </p:txBody>
      </p:sp>
      <p:sp>
        <p:nvSpPr>
          <p:cNvPr id="20" name="Text 18"/>
          <p:cNvSpPr txBox="1"/>
          <p:nvPr/>
        </p:nvSpPr>
        <p:spPr>
          <a:xfrm>
            <a:off x="1188720" y="5257800"/>
            <a:ext cx="484632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On any error: ROLLBACK and log a FAILED attempt</a:t>
            </a:r>
            <a:endParaRPr lang="en-US" sz="1500" dirty="0"/>
          </a:p>
        </p:txBody>
      </p:sp>
      <p:sp>
        <p:nvSpPr>
          <p:cNvPr id="21" name="card"/>
          <p:cNvSpPr/>
          <p:nvPr/>
        </p:nvSpPr>
        <p:spPr>
          <a:xfrm>
            <a:off x="6400800" y="1325880"/>
            <a:ext cx="5212080" cy="2240280"/>
          </a:xfrm>
          <a:prstGeom prst="rect">
            <a:avLst/>
          </a:prstGeom>
          <a:solidFill>
            <a:schemeClr val="bg2"/>
          </a:solidFill>
          <a:ln w="9525">
            <a:solidFill>
              <a:schemeClr val="bg2"/>
            </a:solidFill>
            <a:prstDash val="solid"/>
          </a:ln>
        </p:spPr>
      </p:sp>
      <p:sp>
        <p:nvSpPr>
          <p:cNvPr id="22" name="Text 20"/>
          <p:cNvSpPr txBox="1"/>
          <p:nvPr/>
        </p:nvSpPr>
        <p:spPr>
          <a:xfrm>
            <a:off x="6629400" y="1463040"/>
            <a:ext cx="475488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Without locking: lost update</a:t>
            </a:r>
            <a:endParaRPr lang="en-US" sz="1700" dirty="0"/>
          </a:p>
        </p:txBody>
      </p:sp>
      <p:sp>
        <p:nvSpPr>
          <p:cNvPr id="23" name="Text 21"/>
          <p:cNvSpPr txBox="1"/>
          <p:nvPr/>
        </p:nvSpPr>
        <p:spPr>
          <a:xfrm>
            <a:off x="6629400" y="1920240"/>
            <a:ext cx="4754880" cy="15544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Two sessions both read 10,000 and both write. Final balance is 8,000 instead of 7,000. The precedence graph has a cycle, so the schedule is not conflict-serializable.</a:t>
            </a:r>
            <a:endParaRPr lang="en-US" sz="1400" dirty="0"/>
          </a:p>
        </p:txBody>
      </p:sp>
      <p:sp>
        <p:nvSpPr>
          <p:cNvPr id="24" name="card"/>
          <p:cNvSpPr/>
          <p:nvPr/>
        </p:nvSpPr>
        <p:spPr>
          <a:xfrm>
            <a:off x="6400800" y="3794760"/>
            <a:ext cx="5212080" cy="2240280"/>
          </a:xfrm>
          <a:prstGeom prst="rect">
            <a:avLst/>
          </a:prstGeom>
          <a:solidFill>
            <a:schemeClr val="tx1"/>
          </a:solidFill>
          <a:ln w="9525">
            <a:solidFill>
              <a:schemeClr val="tx1"/>
            </a:solidFill>
            <a:prstDash val="solid"/>
          </a:ln>
        </p:spPr>
      </p:sp>
      <p:sp>
        <p:nvSpPr>
          <p:cNvPr id="25" name="Text 23"/>
          <p:cNvSpPr txBox="1"/>
          <p:nvPr/>
        </p:nvSpPr>
        <p:spPr>
          <a:xfrm>
            <a:off x="6629400" y="3931920"/>
            <a:ext cx="4754880" cy="36576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With SELECT ... FOR UPDATE</a:t>
            </a:r>
            <a:endParaRPr lang="en-US" sz="1700" dirty="0"/>
          </a:p>
        </p:txBody>
      </p:sp>
      <p:sp>
        <p:nvSpPr>
          <p:cNvPr id="26" name="Text 24"/>
          <p:cNvSpPr txBox="1"/>
          <p:nvPr/>
        </p:nvSpPr>
        <p:spPr>
          <a:xfrm>
            <a:off x="6629400" y="4389120"/>
            <a:ext cx="4754880" cy="155448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The second session waits for the exclusive lock, then reads 9,000. Final balance 7,000. The schedule is equivalent to the serial order T1, T2.</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Rule-based fraud monitoring with triggers</a:t>
            </a:r>
            <a:endParaRPr lang="en-US" sz="3400" dirty="0"/>
          </a:p>
        </p:txBody>
      </p:sp>
      <p:graphicFrame>
        <p:nvGraphicFramePr>
          <p:cNvPr id="3" name="Chart 0" descr=""/>
          <p:cNvGraphicFramePr/>
          <p:nvPr/>
        </p:nvGraphicFramePr>
        <p:xfrm>
          <a:off x="548640" y="1280160"/>
          <a:ext cx="576072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675120" y="1325880"/>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Velocity</a:t>
            </a:r>
            <a:endParaRPr lang="en-US" sz="1500" dirty="0"/>
          </a:p>
        </p:txBody>
      </p:sp>
      <p:sp>
        <p:nvSpPr>
          <p:cNvPr id="5" name="Text 2"/>
          <p:cNvSpPr txBox="1"/>
          <p:nvPr/>
        </p:nvSpPr>
        <p:spPr>
          <a:xfrm>
            <a:off x="6675120" y="1645920"/>
            <a:ext cx="4937760" cy="3657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5+ payments from one UPI ID within 10 minutes</a:t>
            </a:r>
            <a:endParaRPr lang="en-US" sz="1300" dirty="0"/>
          </a:p>
        </p:txBody>
      </p:sp>
      <p:sp>
        <p:nvSpPr>
          <p:cNvPr id="6" name="Text 3"/>
          <p:cNvSpPr txBox="1"/>
          <p:nvPr/>
        </p:nvSpPr>
        <p:spPr>
          <a:xfrm>
            <a:off x="6675120" y="2130552"/>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High value, new payee</a:t>
            </a:r>
            <a:endParaRPr lang="en-US" sz="1500" dirty="0"/>
          </a:p>
        </p:txBody>
      </p:sp>
      <p:sp>
        <p:nvSpPr>
          <p:cNvPr id="7" name="Text 4"/>
          <p:cNvSpPr txBox="1"/>
          <p:nvPr/>
        </p:nvSpPr>
        <p:spPr>
          <a:xfrm>
            <a:off x="6675120" y="2450592"/>
            <a:ext cx="4937760" cy="3657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Rs. 50,000+ to someone never paid before (critical)</a:t>
            </a:r>
            <a:endParaRPr lang="en-US" sz="1300" dirty="0"/>
          </a:p>
        </p:txBody>
      </p:sp>
      <p:sp>
        <p:nvSpPr>
          <p:cNvPr id="8" name="Text 5"/>
          <p:cNvSpPr txBox="1"/>
          <p:nvPr/>
        </p:nvSpPr>
        <p:spPr>
          <a:xfrm>
            <a:off x="6675120" y="2935224"/>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Night high value</a:t>
            </a:r>
            <a:endParaRPr lang="en-US" sz="1500" dirty="0"/>
          </a:p>
        </p:txBody>
      </p:sp>
      <p:sp>
        <p:nvSpPr>
          <p:cNvPr id="9" name="Text 6"/>
          <p:cNvSpPr txBox="1"/>
          <p:nvPr/>
        </p:nvSpPr>
        <p:spPr>
          <a:xfrm>
            <a:off x="6675120" y="3255264"/>
            <a:ext cx="4937760" cy="3657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Rs. 20,000+ between midnight and 5 AM</a:t>
            </a:r>
            <a:endParaRPr lang="en-US" sz="1300" dirty="0"/>
          </a:p>
        </p:txBody>
      </p:sp>
      <p:sp>
        <p:nvSpPr>
          <p:cNvPr id="10" name="Text 7"/>
          <p:cNvSpPr txBox="1"/>
          <p:nvPr/>
        </p:nvSpPr>
        <p:spPr>
          <a:xfrm>
            <a:off x="6675120" y="3739896"/>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New device</a:t>
            </a:r>
            <a:endParaRPr lang="en-US" sz="1500" dirty="0"/>
          </a:p>
        </p:txBody>
      </p:sp>
      <p:sp>
        <p:nvSpPr>
          <p:cNvPr id="11" name="Text 8"/>
          <p:cNvSpPr txBox="1"/>
          <p:nvPr/>
        </p:nvSpPr>
        <p:spPr>
          <a:xfrm>
            <a:off x="6675120" y="4059936"/>
            <a:ext cx="4937760" cy="3657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Rs. 10,000+ from a device first seen under 24 hours ago</a:t>
            </a:r>
            <a:endParaRPr lang="en-US" sz="1300" dirty="0"/>
          </a:p>
        </p:txBody>
      </p:sp>
      <p:sp>
        <p:nvSpPr>
          <p:cNvPr id="12" name="Text 9"/>
          <p:cNvSpPr txBox="1"/>
          <p:nvPr/>
        </p:nvSpPr>
        <p:spPr>
          <a:xfrm>
            <a:off x="6675120" y="4544568"/>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High-risk merchant</a:t>
            </a:r>
            <a:endParaRPr lang="en-US" sz="1500" dirty="0"/>
          </a:p>
        </p:txBody>
      </p:sp>
      <p:sp>
        <p:nvSpPr>
          <p:cNvPr id="13" name="Text 10"/>
          <p:cNvSpPr txBox="1"/>
          <p:nvPr/>
        </p:nvSpPr>
        <p:spPr>
          <a:xfrm>
            <a:off x="6675120" y="4864608"/>
            <a:ext cx="4937760" cy="3657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Rs. 25,000+ to crypto, gaming or jewellery merchants</a:t>
            </a:r>
            <a:endParaRPr lang="en-US" sz="1300" dirty="0"/>
          </a:p>
        </p:txBody>
      </p:sp>
      <p:sp>
        <p:nvSpPr>
          <p:cNvPr id="14" name="card"/>
          <p:cNvSpPr/>
          <p:nvPr/>
        </p:nvSpPr>
        <p:spPr>
          <a:xfrm>
            <a:off x="6675120" y="5440680"/>
            <a:ext cx="4937760" cy="731520"/>
          </a:xfrm>
          <a:prstGeom prst="rect">
            <a:avLst/>
          </a:prstGeom>
          <a:solidFill>
            <a:schemeClr val="tx1"/>
          </a:solidFill>
          <a:ln w="9525">
            <a:solidFill>
              <a:schemeClr val="tx1"/>
            </a:solidFill>
            <a:prstDash val="solid"/>
          </a:ln>
        </p:spPr>
      </p:sp>
      <p:sp>
        <p:nvSpPr>
          <p:cNvPr id="15" name="Text 12"/>
          <p:cNvSpPr txBox="1"/>
          <p:nvPr/>
        </p:nvSpPr>
        <p:spPr>
          <a:xfrm>
            <a:off x="6858000" y="5532120"/>
            <a:ext cx="4572000" cy="548640"/>
          </a:xfrm>
          <a:prstGeom prst="rect">
            <a:avLst/>
          </a:prstGeom>
          <a:noFill/>
          <a:ln/>
        </p:spPr>
        <p:txBody>
          <a:bodyPr wrap="square" lIns="0" tIns="0" rIns="0" bIns="0" rtlCol="0" anchor="ctr"/>
          <a:lstStyle/>
          <a:p>
            <a:pPr indent="0" marL="0">
              <a:buNone/>
            </a:pPr>
            <a:r>
              <a:rPr lang="en-US" sz="1300" dirty="0">
                <a:solidFill>
                  <a:schemeClr val="bg1"/>
                </a:solidFill>
                <a:latin typeface="Calibri" pitchFamily="34" charset="0"/>
                <a:ea typeface="Calibri" pitchFamily="34" charset="-122"/>
                <a:cs typeface="Calibri" pitchFamily="34" charset="-120"/>
              </a:rPr>
              <a:t>49 alerts confirmed as fraud, 9 marked false positive, 10 still under review</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Security: four clearance levels</a:t>
            </a:r>
            <a:endParaRPr lang="en-US" sz="3400" dirty="0"/>
          </a:p>
        </p:txBody>
      </p:sp>
      <p:sp>
        <p:nvSpPr>
          <p:cNvPr id="3" name="Shape 1"/>
          <p:cNvSpPr/>
          <p:nvPr/>
        </p:nvSpPr>
        <p:spPr>
          <a:xfrm>
            <a:off x="1965960" y="1371600"/>
            <a:ext cx="2926080" cy="1005840"/>
          </a:xfrm>
          <a:prstGeom prst="rect">
            <a:avLst/>
          </a:prstGeom>
          <a:solidFill>
            <a:schemeClr val="tx1"/>
          </a:solidFill>
          <a:ln w="12700">
            <a:solidFill>
              <a:schemeClr val="tx1"/>
            </a:solidFill>
            <a:prstDash val="solid"/>
          </a:ln>
        </p:spPr>
      </p:sp>
      <p:sp>
        <p:nvSpPr>
          <p:cNvPr id="4" name="Text 2"/>
          <p:cNvSpPr txBox="1"/>
          <p:nvPr/>
        </p:nvSpPr>
        <p:spPr>
          <a:xfrm>
            <a:off x="2148840" y="1481328"/>
            <a:ext cx="2560320" cy="365760"/>
          </a:xfrm>
          <a:prstGeom prst="rect">
            <a:avLst/>
          </a:prstGeom>
          <a:noFill/>
          <a:ln/>
        </p:spPr>
        <p:txBody>
          <a:bodyPr wrap="square" lIns="0" tIns="0" rIns="0" bIns="0" rtlCol="0" anchor="t"/>
          <a:lstStyle/>
          <a:p>
            <a:pPr algn="ctr" indent="0" marL="0">
              <a:buNone/>
            </a:pPr>
            <a:r>
              <a:rPr lang="en-US" sz="1500" b="1" dirty="0">
                <a:solidFill>
                  <a:schemeClr val="bg1"/>
                </a:solidFill>
                <a:latin typeface="Calibri" pitchFamily="34" charset="0"/>
                <a:ea typeface="Calibri" pitchFamily="34" charset="-122"/>
                <a:cs typeface="Calibri" pitchFamily="34" charset="-120"/>
              </a:rPr>
              <a:t>4  SECRET</a:t>
            </a:r>
            <a:endParaRPr lang="en-US" sz="1500" dirty="0"/>
          </a:p>
        </p:txBody>
      </p:sp>
      <p:sp>
        <p:nvSpPr>
          <p:cNvPr id="5" name="Text 3"/>
          <p:cNvSpPr txBox="1"/>
          <p:nvPr/>
        </p:nvSpPr>
        <p:spPr>
          <a:xfrm>
            <a:off x="2148840" y="1874520"/>
            <a:ext cx="2560320" cy="36576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Auditor: Audit trail, decryption key</a:t>
            </a:r>
            <a:endParaRPr lang="en-US" sz="1200" dirty="0"/>
          </a:p>
        </p:txBody>
      </p:sp>
      <p:sp>
        <p:nvSpPr>
          <p:cNvPr id="6" name="Shape 4"/>
          <p:cNvSpPr/>
          <p:nvPr/>
        </p:nvSpPr>
        <p:spPr>
          <a:xfrm>
            <a:off x="1554480" y="2560320"/>
            <a:ext cx="3749040" cy="1005840"/>
          </a:xfrm>
          <a:prstGeom prst="rect">
            <a:avLst/>
          </a:prstGeom>
          <a:solidFill>
            <a:schemeClr val="accent5"/>
          </a:solidFill>
          <a:ln w="12700">
            <a:solidFill>
              <a:schemeClr val="accent5"/>
            </a:solidFill>
            <a:prstDash val="solid"/>
          </a:ln>
        </p:spPr>
      </p:sp>
      <p:sp>
        <p:nvSpPr>
          <p:cNvPr id="7" name="Text 5"/>
          <p:cNvSpPr txBox="1"/>
          <p:nvPr/>
        </p:nvSpPr>
        <p:spPr>
          <a:xfrm>
            <a:off x="1737360" y="2670048"/>
            <a:ext cx="3383280" cy="365760"/>
          </a:xfrm>
          <a:prstGeom prst="rect">
            <a:avLst/>
          </a:prstGeom>
          <a:noFill/>
          <a:ln/>
        </p:spPr>
        <p:txBody>
          <a:bodyPr wrap="square" lIns="0" tIns="0" rIns="0" bIns="0" rtlCol="0" anchor="t"/>
          <a:lstStyle/>
          <a:p>
            <a:pPr algn="ctr" indent="0" marL="0">
              <a:buNone/>
            </a:pPr>
            <a:r>
              <a:rPr lang="en-US" sz="1500" b="1" dirty="0">
                <a:solidFill>
                  <a:schemeClr val="bg1"/>
                </a:solidFill>
                <a:latin typeface="Calibri" pitchFamily="34" charset="0"/>
                <a:ea typeface="Calibri" pitchFamily="34" charset="-122"/>
                <a:cs typeface="Calibri" pitchFamily="34" charset="-120"/>
              </a:rPr>
              <a:t>3  CONFIDENTIAL</a:t>
            </a:r>
            <a:endParaRPr lang="en-US" sz="1500" dirty="0"/>
          </a:p>
        </p:txBody>
      </p:sp>
      <p:sp>
        <p:nvSpPr>
          <p:cNvPr id="8" name="Text 6"/>
          <p:cNvSpPr txBox="1"/>
          <p:nvPr/>
        </p:nvSpPr>
        <p:spPr>
          <a:xfrm>
            <a:off x="1737360" y="3063240"/>
            <a:ext cx="3383280" cy="36576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Fraud analyst: Transactions, alerts, disputes</a:t>
            </a:r>
            <a:endParaRPr lang="en-US" sz="1200" dirty="0"/>
          </a:p>
        </p:txBody>
      </p:sp>
      <p:sp>
        <p:nvSpPr>
          <p:cNvPr id="9" name="Shape 7"/>
          <p:cNvSpPr/>
          <p:nvPr/>
        </p:nvSpPr>
        <p:spPr>
          <a:xfrm>
            <a:off x="1143000" y="3749040"/>
            <a:ext cx="4572000" cy="1005840"/>
          </a:xfrm>
          <a:prstGeom prst="rect">
            <a:avLst/>
          </a:prstGeom>
          <a:solidFill>
            <a:schemeClr val="accent2"/>
          </a:solidFill>
          <a:ln w="12700">
            <a:solidFill>
              <a:schemeClr val="accent2"/>
            </a:solidFill>
            <a:prstDash val="solid"/>
          </a:ln>
        </p:spPr>
      </p:sp>
      <p:sp>
        <p:nvSpPr>
          <p:cNvPr id="10" name="Text 8"/>
          <p:cNvSpPr txBox="1"/>
          <p:nvPr/>
        </p:nvSpPr>
        <p:spPr>
          <a:xfrm>
            <a:off x="1325880" y="3858768"/>
            <a:ext cx="4206240" cy="365760"/>
          </a:xfrm>
          <a:prstGeom prst="rect">
            <a:avLst/>
          </a:prstGeom>
          <a:noFill/>
          <a:ln/>
        </p:spPr>
        <p:txBody>
          <a:bodyPr wrap="square" lIns="0" tIns="0" rIns="0" bIns="0" rtlCol="0" anchor="t"/>
          <a:lstStyle/>
          <a:p>
            <a:pPr algn="ctr" indent="0" marL="0">
              <a:buNone/>
            </a:pPr>
            <a:r>
              <a:rPr lang="en-US" sz="1500" b="1" dirty="0">
                <a:solidFill>
                  <a:schemeClr val="bg1"/>
                </a:solidFill>
                <a:latin typeface="Calibri" pitchFamily="34" charset="0"/>
                <a:ea typeface="Calibri" pitchFamily="34" charset="-122"/>
                <a:cs typeface="Calibri" pitchFamily="34" charset="-120"/>
              </a:rPr>
              <a:t>2  INTERNAL</a:t>
            </a:r>
            <a:endParaRPr lang="en-US" sz="1500" dirty="0"/>
          </a:p>
        </p:txBody>
      </p:sp>
      <p:sp>
        <p:nvSpPr>
          <p:cNvPr id="11" name="Text 9"/>
          <p:cNvSpPr txBox="1"/>
          <p:nvPr/>
        </p:nvSpPr>
        <p:spPr>
          <a:xfrm>
            <a:off x="1325880" y="4251960"/>
            <a:ext cx="4206240" cy="36576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Support desk: Masked customer and account view</a:t>
            </a:r>
            <a:endParaRPr lang="en-US" sz="1200" dirty="0"/>
          </a:p>
        </p:txBody>
      </p:sp>
      <p:sp>
        <p:nvSpPr>
          <p:cNvPr id="12" name="Shape 10"/>
          <p:cNvSpPr/>
          <p:nvPr/>
        </p:nvSpPr>
        <p:spPr>
          <a:xfrm>
            <a:off x="731520" y="4937760"/>
            <a:ext cx="5394960" cy="1005840"/>
          </a:xfrm>
          <a:prstGeom prst="rect">
            <a:avLst/>
          </a:prstGeom>
          <a:solidFill>
            <a:schemeClr val="accent3"/>
          </a:solidFill>
          <a:ln w="12700">
            <a:solidFill>
              <a:schemeClr val="accent3"/>
            </a:solidFill>
            <a:prstDash val="solid"/>
          </a:ln>
        </p:spPr>
      </p:sp>
      <p:sp>
        <p:nvSpPr>
          <p:cNvPr id="13" name="Text 11"/>
          <p:cNvSpPr txBox="1"/>
          <p:nvPr/>
        </p:nvSpPr>
        <p:spPr>
          <a:xfrm>
            <a:off x="914400" y="5047488"/>
            <a:ext cx="5029200" cy="365760"/>
          </a:xfrm>
          <a:prstGeom prst="rect">
            <a:avLst/>
          </a:prstGeom>
          <a:noFill/>
          <a:ln/>
        </p:spPr>
        <p:txBody>
          <a:bodyPr wrap="square" lIns="0" tIns="0" rIns="0" bIns="0" rtlCol="0" anchor="t"/>
          <a:lstStyle/>
          <a:p>
            <a:pPr algn="ctr" indent="0" marL="0">
              <a:buNone/>
            </a:pPr>
            <a:r>
              <a:rPr lang="en-US" sz="1500" b="1" dirty="0">
                <a:solidFill>
                  <a:schemeClr val="bg1"/>
                </a:solidFill>
                <a:latin typeface="Calibri" pitchFamily="34" charset="0"/>
                <a:ea typeface="Calibri" pitchFamily="34" charset="-122"/>
                <a:cs typeface="Calibri" pitchFamily="34" charset="-120"/>
              </a:rPr>
              <a:t>1  PUBLIC</a:t>
            </a:r>
            <a:endParaRPr lang="en-US" sz="1500" dirty="0"/>
          </a:p>
        </p:txBody>
      </p:sp>
      <p:sp>
        <p:nvSpPr>
          <p:cNvPr id="14" name="Text 12"/>
          <p:cNvSpPr txBox="1"/>
          <p:nvPr/>
        </p:nvSpPr>
        <p:spPr>
          <a:xfrm>
            <a:off x="914400" y="5440680"/>
            <a:ext cx="5029200" cy="365760"/>
          </a:xfrm>
          <a:prstGeom prst="rect">
            <a:avLst/>
          </a:prstGeom>
          <a:noFill/>
          <a:ln/>
        </p:spPr>
        <p:txBody>
          <a:bodyPr wrap="square" lIns="0" tIns="0" rIns="0" bIns="0" rtlCol="0" anchor="t"/>
          <a:lstStyle/>
          <a:p>
            <a:pPr algn="ctr" indent="0" marL="0">
              <a:buNone/>
            </a:pPr>
            <a:r>
              <a:rPr lang="en-US" sz="1200" dirty="0">
                <a:solidFill>
                  <a:schemeClr val="bg1"/>
                </a:solidFill>
                <a:latin typeface="Calibri" pitchFamily="34" charset="0"/>
                <a:ea typeface="Calibri" pitchFamily="34" charset="-122"/>
                <a:cs typeface="Calibri" pitchFamily="34" charset="-120"/>
              </a:rPr>
              <a:t>Dashboard: Aggregate city statistics only</a:t>
            </a:r>
            <a:endParaRPr lang="en-US" sz="1200" dirty="0"/>
          </a:p>
        </p:txBody>
      </p:sp>
      <p:sp>
        <p:nvSpPr>
          <p:cNvPr id="15" name="Text 13"/>
          <p:cNvSpPr txBox="1"/>
          <p:nvPr/>
        </p:nvSpPr>
        <p:spPr>
          <a:xfrm>
            <a:off x="6675120" y="1325880"/>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Discretionary access control</a:t>
            </a:r>
            <a:endParaRPr lang="en-US" sz="1500" dirty="0"/>
          </a:p>
        </p:txBody>
      </p:sp>
      <p:sp>
        <p:nvSpPr>
          <p:cNvPr id="16" name="Text 14"/>
          <p:cNvSpPr txBox="1"/>
          <p:nvPr/>
        </p:nvSpPr>
        <p:spPr>
          <a:xfrm>
            <a:off x="6675120" y="1655064"/>
            <a:ext cx="493776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Roles granted to users; each role inherits the level below it.</a:t>
            </a:r>
            <a:endParaRPr lang="en-US" sz="1300" dirty="0"/>
          </a:p>
        </p:txBody>
      </p:sp>
      <p:sp>
        <p:nvSpPr>
          <p:cNvPr id="17" name="Text 15"/>
          <p:cNvSpPr txBox="1"/>
          <p:nvPr/>
        </p:nvSpPr>
        <p:spPr>
          <a:xfrm>
            <a:off x="6675120" y="2286000"/>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Mandatory access control (simulated)</a:t>
            </a:r>
            <a:endParaRPr lang="en-US" sz="1500" dirty="0"/>
          </a:p>
        </p:txBody>
      </p:sp>
      <p:sp>
        <p:nvSpPr>
          <p:cNvPr id="18" name="Text 16"/>
          <p:cNvSpPr txBox="1"/>
          <p:nvPr/>
        </p:nvSpPr>
        <p:spPr>
          <a:xfrm>
            <a:off x="6675120" y="2615184"/>
            <a:ext cx="493776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security_level table plus per-level views; no reading up.</a:t>
            </a:r>
            <a:endParaRPr lang="en-US" sz="1300" dirty="0"/>
          </a:p>
        </p:txBody>
      </p:sp>
      <p:sp>
        <p:nvSpPr>
          <p:cNvPr id="19" name="Text 17"/>
          <p:cNvSpPr txBox="1"/>
          <p:nvPr/>
        </p:nvSpPr>
        <p:spPr>
          <a:xfrm>
            <a:off x="6675120" y="3246120"/>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Encryption</a:t>
            </a:r>
            <a:endParaRPr lang="en-US" sz="1500" dirty="0"/>
          </a:p>
        </p:txBody>
      </p:sp>
      <p:sp>
        <p:nvSpPr>
          <p:cNvPr id="20" name="Text 18"/>
          <p:cNvSpPr txBox="1"/>
          <p:nvPr/>
        </p:nvSpPr>
        <p:spPr>
          <a:xfrm>
            <a:off x="6675120" y="3575304"/>
            <a:ext cx="493776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Account numbers stored with AES_ENCRYPT; SHA2 for one-way hashes.</a:t>
            </a:r>
            <a:endParaRPr lang="en-US" sz="1300" dirty="0"/>
          </a:p>
        </p:txBody>
      </p:sp>
      <p:sp>
        <p:nvSpPr>
          <p:cNvPr id="21" name="Text 19"/>
          <p:cNvSpPr txBox="1"/>
          <p:nvPr/>
        </p:nvSpPr>
        <p:spPr>
          <a:xfrm>
            <a:off x="6675120" y="4206240"/>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Audit trail</a:t>
            </a:r>
            <a:endParaRPr lang="en-US" sz="1500" dirty="0"/>
          </a:p>
        </p:txBody>
      </p:sp>
      <p:sp>
        <p:nvSpPr>
          <p:cNvPr id="22" name="Text 20"/>
          <p:cNvSpPr txBox="1"/>
          <p:nvPr/>
        </p:nvSpPr>
        <p:spPr>
          <a:xfrm>
            <a:off x="6675120" y="4535424"/>
            <a:ext cx="493776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Triggers log every balance, status, KYC and alert change.</a:t>
            </a:r>
            <a:endParaRPr lang="en-US" sz="1300" dirty="0"/>
          </a:p>
        </p:txBody>
      </p:sp>
      <p:sp>
        <p:nvSpPr>
          <p:cNvPr id="23" name="Text 21"/>
          <p:cNvSpPr txBox="1"/>
          <p:nvPr/>
        </p:nvSpPr>
        <p:spPr>
          <a:xfrm>
            <a:off x="6675120" y="5166360"/>
            <a:ext cx="493776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Statistical database</a:t>
            </a:r>
            <a:endParaRPr lang="en-US" sz="1500" dirty="0"/>
          </a:p>
        </p:txBody>
      </p:sp>
      <p:sp>
        <p:nvSpPr>
          <p:cNvPr id="24" name="Text 22"/>
          <p:cNvSpPr txBox="1"/>
          <p:nvPr/>
        </p:nvSpPr>
        <p:spPr>
          <a:xfrm>
            <a:off x="6675120" y="5495544"/>
            <a:ext cx="493776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Public view hides groups smaller than 5 customers.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Views and materialized views</a:t>
            </a:r>
            <a:endParaRPr lang="en-US" sz="3400" dirty="0"/>
          </a:p>
        </p:txBody>
      </p:sp>
      <p:sp>
        <p:nvSpPr>
          <p:cNvPr id="3" name="card"/>
          <p:cNvSpPr/>
          <p:nvPr/>
        </p:nvSpPr>
        <p:spPr>
          <a:xfrm>
            <a:off x="548640" y="1371600"/>
            <a:ext cx="5440680" cy="4663440"/>
          </a:xfrm>
          <a:prstGeom prst="rect">
            <a:avLst/>
          </a:prstGeom>
          <a:solidFill>
            <a:schemeClr val="bg2"/>
          </a:solidFill>
          <a:ln w="9525">
            <a:solidFill>
              <a:schemeClr val="bg2"/>
            </a:solidFill>
            <a:prstDash val="solid"/>
          </a:ln>
        </p:spPr>
      </p:sp>
      <p:sp>
        <p:nvSpPr>
          <p:cNvPr id="4" name="Text 2"/>
          <p:cNvSpPr txBox="1"/>
          <p:nvPr/>
        </p:nvSpPr>
        <p:spPr>
          <a:xfrm>
            <a:off x="868680" y="1600200"/>
            <a:ext cx="484632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View</a:t>
            </a:r>
            <a:endParaRPr lang="en-US" sz="2200" dirty="0"/>
          </a:p>
        </p:txBody>
      </p:sp>
      <p:sp>
        <p:nvSpPr>
          <p:cNvPr id="5" name="Text 3"/>
          <p:cNvSpPr txBox="1"/>
          <p:nvPr/>
        </p:nvSpPr>
        <p:spPr>
          <a:xfrm>
            <a:off x="868680" y="2148840"/>
            <a:ext cx="4846320" cy="457200"/>
          </a:xfrm>
          <a:prstGeom prst="rect">
            <a:avLst/>
          </a:prstGeom>
          <a:noFill/>
          <a:ln/>
        </p:spPr>
        <p:txBody>
          <a:bodyPr wrap="square" lIns="0" tIns="0" rIns="0" bIns="0" rtlCol="0" anchor="t"/>
          <a:lstStyle/>
          <a:p>
            <a:pPr indent="0" marL="0">
              <a:buNone/>
            </a:pPr>
            <a:r>
              <a:rPr lang="en-US" sz="1500" dirty="0">
                <a:solidFill>
                  <a:schemeClr val="accent2"/>
                </a:solidFill>
                <a:latin typeface="Calibri" pitchFamily="34" charset="0"/>
                <a:ea typeface="Calibri" pitchFamily="34" charset="-122"/>
                <a:cs typeface="Calibri" pitchFamily="34" charset="-120"/>
              </a:rPr>
              <a:t>Stored query, re-computed on every read</a:t>
            </a:r>
            <a:endParaRPr lang="en-US" sz="1500" dirty="0"/>
          </a:p>
        </p:txBody>
      </p:sp>
      <p:sp>
        <p:nvSpPr>
          <p:cNvPr id="6" name="Text 4"/>
          <p:cNvSpPr txBox="1"/>
          <p:nvPr/>
        </p:nvSpPr>
        <p:spPr>
          <a:xfrm>
            <a:off x="868680" y="2788920"/>
            <a:ext cx="4846320" cy="301752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Always current</a:t>
            </a:r>
            <a:endParaRPr lang="en-US" sz="1500" dirty="0"/>
          </a:p>
          <a:p>
            <a:pPr marL="228600" indent="-2286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No extra storage</a:t>
            </a:r>
            <a:endParaRPr lang="en-US" sz="1500" dirty="0"/>
          </a:p>
          <a:p>
            <a:pPr marL="228600" indent="-2286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Used for the role-based external level</a:t>
            </a:r>
            <a:endParaRPr lang="en-US" sz="1500" dirty="0"/>
          </a:p>
          <a:p>
            <a:pPr marL="228600" indent="-2286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v_active_savings_accounts is updatable WITH CHECK OPTION</a:t>
            </a:r>
            <a:endParaRPr lang="en-US" sz="1500" dirty="0"/>
          </a:p>
        </p:txBody>
      </p:sp>
      <p:sp>
        <p:nvSpPr>
          <p:cNvPr id="7" name="card"/>
          <p:cNvSpPr/>
          <p:nvPr/>
        </p:nvSpPr>
        <p:spPr>
          <a:xfrm>
            <a:off x="6172200" y="1371600"/>
            <a:ext cx="5440680" cy="4663440"/>
          </a:xfrm>
          <a:prstGeom prst="rect">
            <a:avLst/>
          </a:prstGeom>
          <a:solidFill>
            <a:schemeClr val="tx1"/>
          </a:solidFill>
          <a:ln w="9525">
            <a:solidFill>
              <a:schemeClr val="tx1"/>
            </a:solidFill>
            <a:prstDash val="solid"/>
          </a:ln>
        </p:spPr>
      </p:sp>
      <p:sp>
        <p:nvSpPr>
          <p:cNvPr id="8" name="Text 6"/>
          <p:cNvSpPr txBox="1"/>
          <p:nvPr/>
        </p:nvSpPr>
        <p:spPr>
          <a:xfrm>
            <a:off x="6492240" y="1600200"/>
            <a:ext cx="484632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Materialized view (emulated)</a:t>
            </a:r>
            <a:endParaRPr lang="en-US" sz="2200" dirty="0"/>
          </a:p>
        </p:txBody>
      </p:sp>
      <p:sp>
        <p:nvSpPr>
          <p:cNvPr id="9" name="Text 7"/>
          <p:cNvSpPr txBox="1"/>
          <p:nvPr/>
        </p:nvSpPr>
        <p:spPr>
          <a:xfrm>
            <a:off x="6492240" y="2148840"/>
            <a:ext cx="4846320" cy="457200"/>
          </a:xfrm>
          <a:prstGeom prst="rect">
            <a:avLst/>
          </a:prstGeom>
          <a:noFill/>
          <a:ln/>
        </p:spPr>
        <p:txBody>
          <a:bodyPr wrap="square" lIns="0" tIns="0" rIns="0" bIns="0" rtlCol="0" anchor="t"/>
          <a:lstStyle/>
          <a:p>
            <a:pPr indent="0" marL="0">
              <a:buNone/>
            </a:pPr>
            <a:r>
              <a:rPr lang="en-US" sz="1500" dirty="0">
                <a:solidFill>
                  <a:schemeClr val="accent4"/>
                </a:solidFill>
                <a:latin typeface="Calibri" pitchFamily="34" charset="0"/>
                <a:ea typeface="Calibri" pitchFamily="34" charset="-122"/>
                <a:cs typeface="Calibri" pitchFamily="34" charset="-120"/>
              </a:rPr>
              <a:t>Stored result, refreshed on demand or schedule</a:t>
            </a:r>
            <a:endParaRPr lang="en-US" sz="1500" dirty="0"/>
          </a:p>
        </p:txBody>
      </p:sp>
      <p:sp>
        <p:nvSpPr>
          <p:cNvPr id="10" name="Text 8"/>
          <p:cNvSpPr txBox="1"/>
          <p:nvPr/>
        </p:nvSpPr>
        <p:spPr>
          <a:xfrm>
            <a:off x="6492240" y="2788920"/>
            <a:ext cx="4846320" cy="301752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Fast to read, can be stale</a:t>
            </a:r>
            <a:endParaRPr lang="en-US" sz="1500" dirty="0"/>
          </a:p>
          <a:p>
            <a:pPr marL="228600" indent="-2286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MySQL has no native support: summary table + refresh procedure</a:t>
            </a:r>
            <a:endParaRPr lang="en-US" sz="1500" dirty="0"/>
          </a:p>
          <a:p>
            <a:pPr marL="228600" indent="-2286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EVENT refreshes it every hour</a:t>
            </a:r>
            <a:endParaRPr lang="en-US" sz="1500" dirty="0"/>
          </a:p>
          <a:p>
            <a:pPr marL="228600" indent="-2286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Staleness shown live in q07</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Front end: forms on top of the procedures</a:t>
            </a:r>
            <a:endParaRPr lang="en-US" sz="3400" dirty="0"/>
          </a:p>
        </p:txBody>
      </p:sp>
      <p:pic>
        <p:nvPicPr>
          <p:cNvPr id="3" name="Payments tab" descr="/home/claude/shots/04_payments.png">    </p:cNvPr>
          <p:cNvPicPr>
            <a:picLocks noChangeAspect="1"/>
          </p:cNvPicPr>
          <p:nvPr/>
        </p:nvPicPr>
        <p:blipFill>
          <a:blip r:embed="rId1"/>
          <a:stretch>
            <a:fillRect/>
          </a:stretch>
        </p:blipFill>
        <p:spPr>
          <a:xfrm>
            <a:off x="548640" y="1280160"/>
            <a:ext cx="6583680" cy="4014216"/>
          </a:xfrm>
          <a:prstGeom prst="rect">
            <a:avLst/>
          </a:prstGeom>
        </p:spPr>
      </p:pic>
      <p:pic>
        <p:nvPicPr>
          <p:cNvPr id="4" name="Fraud tab" descr="/home/claude/shots/05_fraud.png">    </p:cNvPr>
          <p:cNvPicPr>
            <a:picLocks noChangeAspect="1"/>
          </p:cNvPicPr>
          <p:nvPr/>
        </p:nvPicPr>
        <p:blipFill>
          <a:blip r:embed="rId2"/>
          <a:stretch>
            <a:fillRect/>
          </a:stretch>
        </p:blipFill>
        <p:spPr>
          <a:xfrm>
            <a:off x="7406640" y="1280160"/>
            <a:ext cx="4206240" cy="2560320"/>
          </a:xfrm>
          <a:prstGeom prst="rect">
            <a:avLst/>
          </a:prstGeom>
        </p:spPr>
      </p:pic>
      <p:pic>
        <p:nvPicPr>
          <p:cNvPr id="5" name="SQL console" descr="/home/claude/shots/07_console.png">    </p:cNvPr>
          <p:cNvPicPr>
            <a:picLocks noChangeAspect="1"/>
          </p:cNvPicPr>
          <p:nvPr/>
        </p:nvPicPr>
        <p:blipFill>
          <a:blip r:embed="rId3"/>
          <a:stretch>
            <a:fillRect/>
          </a:stretch>
        </p:blipFill>
        <p:spPr>
          <a:xfrm>
            <a:off x="7406640" y="4023360"/>
            <a:ext cx="4206240" cy="2560320"/>
          </a:xfrm>
          <a:prstGeom prst="rect">
            <a:avLst/>
          </a:prstGeom>
        </p:spPr>
      </p:pic>
      <p:sp>
        <p:nvSpPr>
          <p:cNvPr id="6" name="Text 1"/>
          <p:cNvSpPr txBox="1"/>
          <p:nvPr/>
        </p:nvSpPr>
        <p:spPr>
          <a:xfrm>
            <a:off x="548640" y="5486400"/>
            <a:ext cx="6583680" cy="7772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Python, Tkinter and mysql-connector. Seven tabs: dashboard, customers, accounts, payments, fraud and disputes, reports, SQL console. Every action calls a stored procedure or view, so all rules stay inside the database.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Results</a:t>
            </a:r>
            <a:endParaRPr lang="en-US" sz="3400" dirty="0"/>
          </a:p>
        </p:txBody>
      </p:sp>
      <p:sp>
        <p:nvSpPr>
          <p:cNvPr id="3" name="card"/>
          <p:cNvSpPr/>
          <p:nvPr/>
        </p:nvSpPr>
        <p:spPr>
          <a:xfrm>
            <a:off x="548640" y="1371600"/>
            <a:ext cx="3566160" cy="2011680"/>
          </a:xfrm>
          <a:prstGeom prst="rect">
            <a:avLst/>
          </a:prstGeom>
          <a:solidFill>
            <a:schemeClr val="bg2"/>
          </a:solidFill>
          <a:ln w="9525">
            <a:solidFill>
              <a:schemeClr val="bg2"/>
            </a:solidFill>
            <a:prstDash val="solid"/>
          </a:ln>
        </p:spPr>
      </p:sp>
      <p:sp>
        <p:nvSpPr>
          <p:cNvPr id="4" name="Text 2"/>
          <p:cNvSpPr txBox="1"/>
          <p:nvPr/>
        </p:nvSpPr>
        <p:spPr>
          <a:xfrm>
            <a:off x="822960" y="1645920"/>
            <a:ext cx="3017520" cy="914400"/>
          </a:xfrm>
          <a:prstGeom prst="rect">
            <a:avLst/>
          </a:prstGeom>
          <a:noFill/>
          <a:ln/>
        </p:spPr>
        <p:txBody>
          <a:bodyPr wrap="square" lIns="0" tIns="0" rIns="0" bIns="0" rtlCol="0" anchor="t"/>
          <a:lstStyle/>
          <a:p>
            <a:pPr indent="0" marL="0">
              <a:buNone/>
            </a:pPr>
            <a:r>
              <a:rPr lang="en-US" sz="4800" b="1" dirty="0">
                <a:solidFill>
                  <a:schemeClr val="tx1"/>
                </a:solidFill>
                <a:latin typeface="Cambria" pitchFamily="34" charset="0"/>
                <a:ea typeface="Cambria" pitchFamily="34" charset="-122"/>
                <a:cs typeface="Cambria" pitchFamily="34" charset="-120"/>
              </a:rPr>
              <a:t>8,900+</a:t>
            </a:r>
            <a:endParaRPr lang="en-US" sz="4800" dirty="0"/>
          </a:p>
        </p:txBody>
      </p:sp>
      <p:sp>
        <p:nvSpPr>
          <p:cNvPr id="5" name="Text 3"/>
          <p:cNvSpPr txBox="1"/>
          <p:nvPr/>
        </p:nvSpPr>
        <p:spPr>
          <a:xfrm>
            <a:off x="822960" y="2606040"/>
            <a:ext cx="3017520" cy="457200"/>
          </a:xfrm>
          <a:prstGeom prst="rect">
            <a:avLst/>
          </a:prstGeom>
          <a:noFill/>
          <a:ln/>
        </p:spPr>
        <p:txBody>
          <a:bodyPr wrap="square" lIns="0" tIns="0" rIns="0" bIns="0" rtlCol="0" anchor="t"/>
          <a:lstStyle/>
          <a:p>
            <a:pPr indent="0" marL="0">
              <a:buNone/>
            </a:pPr>
            <a:r>
              <a:rPr lang="en-US" sz="1600" dirty="0">
                <a:solidFill>
                  <a:schemeClr val="accent2"/>
                </a:solidFill>
                <a:latin typeface="Calibri" pitchFamily="34" charset="0"/>
                <a:ea typeface="Calibri" pitchFamily="34" charset="-122"/>
                <a:cs typeface="Calibri" pitchFamily="34" charset="-120"/>
              </a:rPr>
              <a:t>rows of data</a:t>
            </a:r>
            <a:endParaRPr lang="en-US" sz="1600" dirty="0"/>
          </a:p>
        </p:txBody>
      </p:sp>
      <p:sp>
        <p:nvSpPr>
          <p:cNvPr id="6" name="card"/>
          <p:cNvSpPr/>
          <p:nvPr/>
        </p:nvSpPr>
        <p:spPr>
          <a:xfrm>
            <a:off x="4297680" y="1371600"/>
            <a:ext cx="3566160" cy="2011680"/>
          </a:xfrm>
          <a:prstGeom prst="rect">
            <a:avLst/>
          </a:prstGeom>
          <a:solidFill>
            <a:schemeClr val="bg2"/>
          </a:solidFill>
          <a:ln w="9525">
            <a:solidFill>
              <a:schemeClr val="bg2"/>
            </a:solidFill>
            <a:prstDash val="solid"/>
          </a:ln>
        </p:spPr>
      </p:sp>
      <p:sp>
        <p:nvSpPr>
          <p:cNvPr id="7" name="Text 5"/>
          <p:cNvSpPr txBox="1"/>
          <p:nvPr/>
        </p:nvSpPr>
        <p:spPr>
          <a:xfrm>
            <a:off x="4572000" y="1645920"/>
            <a:ext cx="3017520" cy="914400"/>
          </a:xfrm>
          <a:prstGeom prst="rect">
            <a:avLst/>
          </a:prstGeom>
          <a:noFill/>
          <a:ln/>
        </p:spPr>
        <p:txBody>
          <a:bodyPr wrap="square" lIns="0" tIns="0" rIns="0" bIns="0" rtlCol="0" anchor="t"/>
          <a:lstStyle/>
          <a:p>
            <a:pPr indent="0" marL="0">
              <a:buNone/>
            </a:pPr>
            <a:r>
              <a:rPr lang="en-US" sz="4800" b="1" dirty="0">
                <a:solidFill>
                  <a:schemeClr val="tx1"/>
                </a:solidFill>
                <a:latin typeface="Cambria" pitchFamily="34" charset="0"/>
                <a:ea typeface="Cambria" pitchFamily="34" charset="-122"/>
                <a:cs typeface="Cambria" pitchFamily="34" charset="-120"/>
              </a:rPr>
              <a:t>3,200+</a:t>
            </a:r>
            <a:endParaRPr lang="en-US" sz="4800" dirty="0"/>
          </a:p>
        </p:txBody>
      </p:sp>
      <p:sp>
        <p:nvSpPr>
          <p:cNvPr id="8" name="Text 6"/>
          <p:cNvSpPr txBox="1"/>
          <p:nvPr/>
        </p:nvSpPr>
        <p:spPr>
          <a:xfrm>
            <a:off x="4572000" y="2606040"/>
            <a:ext cx="3017520" cy="457200"/>
          </a:xfrm>
          <a:prstGeom prst="rect">
            <a:avLst/>
          </a:prstGeom>
          <a:noFill/>
          <a:ln/>
        </p:spPr>
        <p:txBody>
          <a:bodyPr wrap="square" lIns="0" tIns="0" rIns="0" bIns="0" rtlCol="0" anchor="t"/>
          <a:lstStyle/>
          <a:p>
            <a:pPr indent="0" marL="0">
              <a:buNone/>
            </a:pPr>
            <a:r>
              <a:rPr lang="en-US" sz="1600" dirty="0">
                <a:solidFill>
                  <a:schemeClr val="accent2"/>
                </a:solidFill>
                <a:latin typeface="Calibri" pitchFamily="34" charset="0"/>
                <a:ea typeface="Calibri" pitchFamily="34" charset="-122"/>
                <a:cs typeface="Calibri" pitchFamily="34" charset="-120"/>
              </a:rPr>
              <a:t>UPI transactions</a:t>
            </a:r>
            <a:endParaRPr lang="en-US" sz="1600" dirty="0"/>
          </a:p>
        </p:txBody>
      </p:sp>
      <p:sp>
        <p:nvSpPr>
          <p:cNvPr id="9" name="card"/>
          <p:cNvSpPr/>
          <p:nvPr/>
        </p:nvSpPr>
        <p:spPr>
          <a:xfrm>
            <a:off x="8046720" y="1371600"/>
            <a:ext cx="3566160" cy="2011680"/>
          </a:xfrm>
          <a:prstGeom prst="rect">
            <a:avLst/>
          </a:prstGeom>
          <a:solidFill>
            <a:schemeClr val="tx1"/>
          </a:solidFill>
          <a:ln w="9525">
            <a:solidFill>
              <a:schemeClr val="tx1"/>
            </a:solidFill>
            <a:prstDash val="solid"/>
          </a:ln>
        </p:spPr>
      </p:sp>
      <p:sp>
        <p:nvSpPr>
          <p:cNvPr id="10" name="Text 8"/>
          <p:cNvSpPr txBox="1"/>
          <p:nvPr/>
        </p:nvSpPr>
        <p:spPr>
          <a:xfrm>
            <a:off x="8321040" y="1645920"/>
            <a:ext cx="3017520" cy="91440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68</a:t>
            </a:r>
            <a:endParaRPr lang="en-US" sz="4800" dirty="0"/>
          </a:p>
        </p:txBody>
      </p:sp>
      <p:sp>
        <p:nvSpPr>
          <p:cNvPr id="11" name="Text 9"/>
          <p:cNvSpPr txBox="1"/>
          <p:nvPr/>
        </p:nvSpPr>
        <p:spPr>
          <a:xfrm>
            <a:off x="8321040" y="2606040"/>
            <a:ext cx="3017520" cy="457200"/>
          </a:xfrm>
          <a:prstGeom prst="rect">
            <a:avLst/>
          </a:prstGeom>
          <a:noFill/>
          <a:ln/>
        </p:spPr>
        <p:txBody>
          <a:bodyPr wrap="square" lIns="0" tIns="0" rIns="0" bIns="0" rtlCol="0" anchor="t"/>
          <a:lstStyle/>
          <a:p>
            <a:pPr indent="0" marL="0">
              <a:buNone/>
            </a:pPr>
            <a:r>
              <a:rPr lang="en-US" sz="1600" dirty="0">
                <a:solidFill>
                  <a:schemeClr val="accent4"/>
                </a:solidFill>
                <a:latin typeface="Calibri" pitchFamily="34" charset="0"/>
                <a:ea typeface="Calibri" pitchFamily="34" charset="-122"/>
                <a:cs typeface="Calibri" pitchFamily="34" charset="-120"/>
              </a:rPr>
              <a:t>fraud alerts raised by triggers</a:t>
            </a:r>
            <a:endParaRPr lang="en-US" sz="1600" dirty="0"/>
          </a:p>
        </p:txBody>
      </p:sp>
      <p:sp>
        <p:nvSpPr>
          <p:cNvPr id="12" name="card"/>
          <p:cNvSpPr/>
          <p:nvPr/>
        </p:nvSpPr>
        <p:spPr>
          <a:xfrm>
            <a:off x="548640" y="3611880"/>
            <a:ext cx="3566160" cy="2011680"/>
          </a:xfrm>
          <a:prstGeom prst="rect">
            <a:avLst/>
          </a:prstGeom>
          <a:solidFill>
            <a:schemeClr val="bg2"/>
          </a:solidFill>
          <a:ln w="9525">
            <a:solidFill>
              <a:schemeClr val="bg2"/>
            </a:solidFill>
            <a:prstDash val="solid"/>
          </a:ln>
        </p:spPr>
      </p:sp>
      <p:sp>
        <p:nvSpPr>
          <p:cNvPr id="13" name="Text 11"/>
          <p:cNvSpPr txBox="1"/>
          <p:nvPr/>
        </p:nvSpPr>
        <p:spPr>
          <a:xfrm>
            <a:off x="822960" y="3886200"/>
            <a:ext cx="3017520" cy="914400"/>
          </a:xfrm>
          <a:prstGeom prst="rect">
            <a:avLst/>
          </a:prstGeom>
          <a:noFill/>
          <a:ln/>
        </p:spPr>
        <p:txBody>
          <a:bodyPr wrap="square" lIns="0" tIns="0" rIns="0" bIns="0" rtlCol="0" anchor="t"/>
          <a:lstStyle/>
          <a:p>
            <a:pPr indent="0" marL="0">
              <a:buNone/>
            </a:pPr>
            <a:r>
              <a:rPr lang="en-US" sz="4800" b="1" dirty="0">
                <a:solidFill>
                  <a:schemeClr val="tx1"/>
                </a:solidFill>
                <a:latin typeface="Cambria" pitchFamily="34" charset="0"/>
                <a:ea typeface="Cambria" pitchFamily="34" charset="-122"/>
                <a:cs typeface="Cambria" pitchFamily="34" charset="-120"/>
              </a:rPr>
              <a:t>12</a:t>
            </a:r>
            <a:endParaRPr lang="en-US" sz="4800" dirty="0"/>
          </a:p>
        </p:txBody>
      </p:sp>
      <p:sp>
        <p:nvSpPr>
          <p:cNvPr id="14" name="Text 12"/>
          <p:cNvSpPr txBox="1"/>
          <p:nvPr/>
        </p:nvSpPr>
        <p:spPr>
          <a:xfrm>
            <a:off x="822960" y="4846320"/>
            <a:ext cx="3017520" cy="457200"/>
          </a:xfrm>
          <a:prstGeom prst="rect">
            <a:avLst/>
          </a:prstGeom>
          <a:noFill/>
          <a:ln/>
        </p:spPr>
        <p:txBody>
          <a:bodyPr wrap="square" lIns="0" tIns="0" rIns="0" bIns="0" rtlCol="0" anchor="t"/>
          <a:lstStyle/>
          <a:p>
            <a:pPr indent="0" marL="0">
              <a:buNone/>
            </a:pPr>
            <a:r>
              <a:rPr lang="en-US" sz="1600" dirty="0">
                <a:solidFill>
                  <a:schemeClr val="accent2"/>
                </a:solidFill>
                <a:latin typeface="Calibri" pitchFamily="34" charset="0"/>
                <a:ea typeface="Calibri" pitchFamily="34" charset="-122"/>
                <a:cs typeface="Calibri" pitchFamily="34" charset="-120"/>
              </a:rPr>
              <a:t>triggers</a:t>
            </a:r>
            <a:endParaRPr lang="en-US" sz="1600" dirty="0"/>
          </a:p>
        </p:txBody>
      </p:sp>
      <p:sp>
        <p:nvSpPr>
          <p:cNvPr id="15" name="card"/>
          <p:cNvSpPr/>
          <p:nvPr/>
        </p:nvSpPr>
        <p:spPr>
          <a:xfrm>
            <a:off x="4297680" y="3611880"/>
            <a:ext cx="3566160" cy="2011680"/>
          </a:xfrm>
          <a:prstGeom prst="rect">
            <a:avLst/>
          </a:prstGeom>
          <a:solidFill>
            <a:schemeClr val="bg2"/>
          </a:solidFill>
          <a:ln w="9525">
            <a:solidFill>
              <a:schemeClr val="bg2"/>
            </a:solidFill>
            <a:prstDash val="solid"/>
          </a:ln>
        </p:spPr>
      </p:sp>
      <p:sp>
        <p:nvSpPr>
          <p:cNvPr id="16" name="Text 14"/>
          <p:cNvSpPr txBox="1"/>
          <p:nvPr/>
        </p:nvSpPr>
        <p:spPr>
          <a:xfrm>
            <a:off x="4572000" y="3886200"/>
            <a:ext cx="3017520" cy="914400"/>
          </a:xfrm>
          <a:prstGeom prst="rect">
            <a:avLst/>
          </a:prstGeom>
          <a:noFill/>
          <a:ln/>
        </p:spPr>
        <p:txBody>
          <a:bodyPr wrap="square" lIns="0" tIns="0" rIns="0" bIns="0" rtlCol="0" anchor="t"/>
          <a:lstStyle/>
          <a:p>
            <a:pPr indent="0" marL="0">
              <a:buNone/>
            </a:pPr>
            <a:r>
              <a:rPr lang="en-US" sz="4800" b="1" dirty="0">
                <a:solidFill>
                  <a:schemeClr val="tx1"/>
                </a:solidFill>
                <a:latin typeface="Cambria" pitchFamily="34" charset="0"/>
                <a:ea typeface="Cambria" pitchFamily="34" charset="-122"/>
                <a:cs typeface="Cambria" pitchFamily="34" charset="-120"/>
              </a:rPr>
              <a:t>8</a:t>
            </a:r>
            <a:endParaRPr lang="en-US" sz="4800" dirty="0"/>
          </a:p>
        </p:txBody>
      </p:sp>
      <p:sp>
        <p:nvSpPr>
          <p:cNvPr id="17" name="Text 15"/>
          <p:cNvSpPr txBox="1"/>
          <p:nvPr/>
        </p:nvSpPr>
        <p:spPr>
          <a:xfrm>
            <a:off x="4572000" y="4846320"/>
            <a:ext cx="3017520" cy="457200"/>
          </a:xfrm>
          <a:prstGeom prst="rect">
            <a:avLst/>
          </a:prstGeom>
          <a:noFill/>
          <a:ln/>
        </p:spPr>
        <p:txBody>
          <a:bodyPr wrap="square" lIns="0" tIns="0" rIns="0" bIns="0" rtlCol="0" anchor="t"/>
          <a:lstStyle/>
          <a:p>
            <a:pPr indent="0" marL="0">
              <a:buNone/>
            </a:pPr>
            <a:r>
              <a:rPr lang="en-US" sz="1600" dirty="0">
                <a:solidFill>
                  <a:schemeClr val="accent2"/>
                </a:solidFill>
                <a:latin typeface="Calibri" pitchFamily="34" charset="0"/>
                <a:ea typeface="Calibri" pitchFamily="34" charset="-122"/>
                <a:cs typeface="Calibri" pitchFamily="34" charset="-120"/>
              </a:rPr>
              <a:t>stored procedures</a:t>
            </a:r>
            <a:endParaRPr lang="en-US" sz="1600" dirty="0"/>
          </a:p>
        </p:txBody>
      </p:sp>
      <p:sp>
        <p:nvSpPr>
          <p:cNvPr id="18" name="card"/>
          <p:cNvSpPr/>
          <p:nvPr/>
        </p:nvSpPr>
        <p:spPr>
          <a:xfrm>
            <a:off x="8046720" y="3611880"/>
            <a:ext cx="3566160" cy="2011680"/>
          </a:xfrm>
          <a:prstGeom prst="rect">
            <a:avLst/>
          </a:prstGeom>
          <a:solidFill>
            <a:schemeClr val="bg2"/>
          </a:solidFill>
          <a:ln w="9525">
            <a:solidFill>
              <a:schemeClr val="bg2"/>
            </a:solidFill>
            <a:prstDash val="solid"/>
          </a:ln>
        </p:spPr>
      </p:sp>
      <p:sp>
        <p:nvSpPr>
          <p:cNvPr id="19" name="Text 17"/>
          <p:cNvSpPr txBox="1"/>
          <p:nvPr/>
        </p:nvSpPr>
        <p:spPr>
          <a:xfrm>
            <a:off x="8321040" y="3886200"/>
            <a:ext cx="3017520" cy="914400"/>
          </a:xfrm>
          <a:prstGeom prst="rect">
            <a:avLst/>
          </a:prstGeom>
          <a:noFill/>
          <a:ln/>
        </p:spPr>
        <p:txBody>
          <a:bodyPr wrap="square" lIns="0" tIns="0" rIns="0" bIns="0" rtlCol="0" anchor="t"/>
          <a:lstStyle/>
          <a:p>
            <a:pPr indent="0" marL="0">
              <a:buNone/>
            </a:pPr>
            <a:r>
              <a:rPr lang="en-US" sz="4800" b="1" dirty="0">
                <a:solidFill>
                  <a:schemeClr val="tx1"/>
                </a:solidFill>
                <a:latin typeface="Cambria" pitchFamily="34" charset="0"/>
                <a:ea typeface="Cambria" pitchFamily="34" charset="-122"/>
                <a:cs typeface="Cambria" pitchFamily="34" charset="-120"/>
              </a:rPr>
              <a:t>6</a:t>
            </a:r>
            <a:endParaRPr lang="en-US" sz="4800" dirty="0"/>
          </a:p>
        </p:txBody>
      </p:sp>
      <p:sp>
        <p:nvSpPr>
          <p:cNvPr id="20" name="Text 18"/>
          <p:cNvSpPr txBox="1"/>
          <p:nvPr/>
        </p:nvSpPr>
        <p:spPr>
          <a:xfrm>
            <a:off x="8321040" y="4846320"/>
            <a:ext cx="3017520" cy="457200"/>
          </a:xfrm>
          <a:prstGeom prst="rect">
            <a:avLst/>
          </a:prstGeom>
          <a:noFill/>
          <a:ln/>
        </p:spPr>
        <p:txBody>
          <a:bodyPr wrap="square" lIns="0" tIns="0" rIns="0" bIns="0" rtlCol="0" anchor="t"/>
          <a:lstStyle/>
          <a:p>
            <a:pPr indent="0" marL="0">
              <a:buNone/>
            </a:pPr>
            <a:r>
              <a:rPr lang="en-US" sz="1600" dirty="0">
                <a:solidFill>
                  <a:schemeClr val="accent2"/>
                </a:solidFill>
                <a:latin typeface="Calibri" pitchFamily="34" charset="0"/>
                <a:ea typeface="Calibri" pitchFamily="34" charset="-122"/>
                <a:cs typeface="Calibri" pitchFamily="34" charset="-120"/>
              </a:rPr>
              <a:t>functions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rPr>
              <a:t>Conclusion</a:t>
            </a:r>
            <a:endParaRPr lang="en-US" sz="5400" dirty="0"/>
          </a:p>
        </p:txBody>
      </p:sp>
      <p:sp>
        <p:nvSpPr>
          <p:cNvPr id="3" name="Text 0"/>
          <p:cNvSpPr/>
          <p:nvPr>
            <p:ph idx="101" type="body" hasCustomPrompt="1"/>
          </p:nvPr>
        </p:nvSpPr>
        <p:spPr>
          <a:xfrm>
            <a:off x="731520" y="3429000"/>
            <a:ext cx="10698480" cy="1463040"/>
          </a:xfrm>
          <a:prstGeom prst="rect">
            <a:avLst/>
          </a:prstGeom>
          <a:noFill/>
          <a:ln/>
        </p:spPr>
        <p:txBody>
          <a:bodyPr wrap="square" lIns="0" tIns="0" rIns="0" bIns="0" rtlCol="0" anchor="t"/>
          <a:lstStyle/>
          <a:p>
            <a:pPr algn="l" indent="0" marL="0">
              <a:buNone/>
            </a:pPr>
            <a:r>
              <a:rPr lang="en-US" sz="2000" dirty="0">
                <a:solidFill>
                  <a:schemeClr val="accent4"/>
                </a:solidFill>
              </a:rPr>
              <a:t>UPIShield keeps payments consistent, catches suspicious activity at write time and limits who can see what - all inside MySQL.</a:t>
            </a:r>
            <a:endParaRPr lang="en-US" sz="2000" dirty="0"/>
          </a:p>
          <a:p>
            <a:pPr algn="l" indent="0" marL="0">
              <a:buNone/>
            </a:pPr>
            <a:r>
              <a:rPr lang="en-US" sz="1000" dirty="0">
                <a:solidFill>
                  <a:schemeClr val="accent4"/>
                </a:solidFill>
              </a:rPr>
              <a:t> </a:t>
            </a:r>
            <a:endParaRPr lang="en-US" sz="2000" dirty="0"/>
          </a:p>
          <a:p>
            <a:pPr algn="l" indent="0" marL="0">
              <a:buNone/>
            </a:pPr>
            <a:r>
              <a:rPr lang="en-US" sz="1700" dirty="0">
                <a:solidFill>
                  <a:schemeClr val="accent3"/>
                </a:solidFill>
              </a:rPr>
              <a:t>Future scope: ML-based risk scores, real-time notifications, a mobile client, and partitioning upi_txn by month.</a:t>
            </a:r>
            <a:endParaRPr lang="en-US" sz="2000" dirty="0"/>
          </a:p>
        </p:txBody>
      </p:sp>
    </p:spTree>
  </p:cSld>
  <p:clrMapOvr>
    <a:masterClrMapping/>
  </p:clrMapOvr>
</p:sld>
</file>

<file path=ppt/theme/theme1.xml><?xml version="1.0" encoding="utf-8"?>
<a:theme xmlns:a="http://schemas.openxmlformats.org/drawingml/2006/main" name="UPIShield Mono">
  <a:themeElements>
    <a:clrScheme name="UPIShield Mono">
      <a:dk1>
        <a:srgbClr val="111111"/>
      </a:dk1>
      <a:lt1>
        <a:srgbClr val="FFFFFF"/>
      </a:lt1>
      <a:dk2>
        <a:srgbClr val="2B2B2B"/>
      </a:dk2>
      <a:lt2>
        <a:srgbClr val="F2F2F2"/>
      </a:lt2>
      <a:accent1>
        <a:srgbClr val="111111"/>
      </a:accent1>
      <a:accent2>
        <a:srgbClr val="5E5E5E"/>
      </a:accent2>
      <a:accent3>
        <a:srgbClr val="9A9A9A"/>
      </a:accent3>
      <a:accent4>
        <a:srgbClr val="D9D9D9"/>
      </a:accent4>
      <a:accent5>
        <a:srgbClr val="3D3D3D"/>
      </a:accent5>
      <a:accent6>
        <a:srgbClr val="E9E9E9"/>
      </a:accent6>
      <a:hlink>
        <a:srgbClr val="2B2B2B"/>
      </a:hlink>
      <a:folHlink>
        <a:srgbClr val="5E5E5E"/>
      </a:folHlink>
    </a:clrScheme>
    <a:fontScheme name="UPIShield Mon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UPIShield - DBMS Project</dc:title>
  <dc:subject>PptxGenJS Presentation</dc:subject>
  <dc:creator>UPIShield Team</dc:creator>
  <cp:lastModifiedBy>UPIShield Team</cp:lastModifiedBy>
  <cp:revision>1</cp:revision>
  <dcterms:created xsi:type="dcterms:W3CDTF">2026-10-24T15:27:24Z</dcterms:created>
  <dcterms:modified xsi:type="dcterms:W3CDTF">2026-10-24T15:27:24Z</dcterms:modified>
</cp:coreProperties>
</file>